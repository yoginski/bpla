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58" d="100"/>
          <a:sy n="58" d="100"/>
        </p:scale>
        <p:origin x="-1410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одзаголовок 8"/>
          <p:cNvSpPr>
            <a:spLocks noGrp="1"/>
          </p:cNvSpPr>
          <p:nvPr>
            <p:ph type="subTitle" idx="1"/>
          </p:nvPr>
        </p:nvSpPr>
        <p:spPr>
          <a:xfrm>
            <a:off x="457200" y="3699804"/>
            <a:ext cx="8305800" cy="1143000"/>
          </a:xfrm>
        </p:spPr>
        <p:txBody>
          <a:bodyPr>
            <a:noAutofit/>
          </a:bodyPr>
          <a:lstStyle>
            <a:lvl1pPr marL="0" indent="0" algn="ctr">
              <a:buNone/>
              <a:defRPr sz="2200" spc="100" baseline="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ru-RU" smtClean="0"/>
              <a:t>Образец подзаголовка</a:t>
            </a:r>
            <a:endParaRPr kumimoji="0" lang="en-US"/>
          </a:p>
        </p:txBody>
      </p:sp>
      <p:sp>
        <p:nvSpPr>
          <p:cNvPr id="28" name="Заголовок 27"/>
          <p:cNvSpPr>
            <a:spLocks noGrp="1"/>
          </p:cNvSpPr>
          <p:nvPr>
            <p:ph type="ctrTitle"/>
          </p:nvPr>
        </p:nvSpPr>
        <p:spPr>
          <a:xfrm>
            <a:off x="457200" y="1433732"/>
            <a:ext cx="8305800" cy="1981200"/>
          </a:xfrm>
          <a:ln w="6350" cap="rnd">
            <a:noFill/>
          </a:ln>
        </p:spPr>
        <p:txBody>
          <a:bodyPr anchor="b" anchorCtr="0">
            <a:noAutofit/>
          </a:bodyPr>
          <a:lstStyle>
            <a:lvl1pPr algn="ctr">
              <a:defRPr lang="en-US" sz="4800" b="0" dirty="0">
                <a:ln w="3200">
                  <a:solidFill>
                    <a:schemeClr val="bg2">
                      <a:shade val="75000"/>
                      <a:alpha val="25000"/>
                    </a:schemeClr>
                  </a:solidFill>
                  <a:prstDash val="solid"/>
                  <a:round/>
                </a:ln>
                <a:solidFill>
                  <a:srgbClr val="F9F9F9"/>
                </a:solidFill>
                <a:effectLst>
                  <a:innerShdw blurRad="50800" dist="25400" dir="13500000">
                    <a:srgbClr val="000000">
                      <a:alpha val="70000"/>
                    </a:srgbClr>
                  </a:innerShdw>
                </a:effectLst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cxnSp>
        <p:nvCxnSpPr>
          <p:cNvPr id="8" name="Прямая соединительная линия 7"/>
          <p:cNvCxnSpPr/>
          <p:nvPr/>
        </p:nvCxnSpPr>
        <p:spPr>
          <a:xfrm>
            <a:off x="1463626" y="3550126"/>
            <a:ext cx="2971800" cy="1588"/>
          </a:xfrm>
          <a:prstGeom prst="line">
            <a:avLst/>
          </a:prstGeom>
          <a:ln w="9525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я соединительная линия 12"/>
          <p:cNvCxnSpPr/>
          <p:nvPr/>
        </p:nvCxnSpPr>
        <p:spPr>
          <a:xfrm>
            <a:off x="4708574" y="3550126"/>
            <a:ext cx="2971800" cy="1588"/>
          </a:xfrm>
          <a:prstGeom prst="line">
            <a:avLst/>
          </a:prstGeom>
          <a:ln w="9525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Овал 13"/>
          <p:cNvSpPr/>
          <p:nvPr/>
        </p:nvSpPr>
        <p:spPr>
          <a:xfrm>
            <a:off x="4540348" y="3526302"/>
            <a:ext cx="45720" cy="45720"/>
          </a:xfrm>
          <a:prstGeom prst="ellipse">
            <a:avLst/>
          </a:prstGeom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2">
            <a:schemeClr val="accent2"/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Дата 1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13.07.2026</a:t>
            </a:fld>
            <a:endParaRPr lang="ru-RU"/>
          </a:p>
        </p:txBody>
      </p:sp>
      <p:sp>
        <p:nvSpPr>
          <p:cNvPr id="16" name="Номер слайда 1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sp>
        <p:nvSpPr>
          <p:cNvPr id="17" name="Нижний колонтитул 1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Объект 8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572000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14" name="Дата 13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13.07.2026</a:t>
            </a:fld>
            <a:endParaRPr lang="ru-RU"/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 algn="ctr">
              <a:defRPr/>
            </a:lvl1pPr>
          </a:lstStyle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sp>
        <p:nvSpPr>
          <p:cNvPr id="16" name="Нижний колонтитул 15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7" name="Заголовок 16"/>
          <p:cNvSpPr>
            <a:spLocks noGrp="1"/>
          </p:cNvSpPr>
          <p:nvPr>
            <p:ph type="title"/>
          </p:nvPr>
        </p:nvSpPr>
        <p:spPr/>
        <p:txBody>
          <a:bodyPr rtlCol="0" anchor="b" anchorCtr="0"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13.07.2026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85800" y="3505200"/>
            <a:ext cx="7924800" cy="1371600"/>
          </a:xfrm>
        </p:spPr>
        <p:txBody>
          <a:bodyPr>
            <a:noAutofit/>
          </a:bodyPr>
          <a:lstStyle>
            <a:lvl1pPr algn="l" rtl="0">
              <a:spcBef>
                <a:spcPct val="0"/>
              </a:spcBef>
              <a:buNone/>
              <a:defRPr lang="en-US" sz="4800" b="0" dirty="0">
                <a:ln w="3200">
                  <a:solidFill>
                    <a:schemeClr val="bg2">
                      <a:shade val="25000"/>
                      <a:alpha val="25000"/>
                    </a:schemeClr>
                  </a:solidFill>
                  <a:prstDash val="solid"/>
                  <a:round/>
                </a:ln>
                <a:solidFill>
                  <a:srgbClr val="F9F9F9"/>
                </a:solidFill>
                <a:effectLst>
                  <a:innerShdw blurRad="38100" dist="25400" dir="13500000">
                    <a:prstClr val="black">
                      <a:alpha val="70000"/>
                    </a:prstClr>
                  </a:innerShdw>
                </a:effectLst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85800" y="4958864"/>
            <a:ext cx="7924800" cy="984736"/>
          </a:xfrm>
        </p:spPr>
        <p:txBody>
          <a:bodyPr anchor="t"/>
          <a:lstStyle>
            <a:lvl1pPr marL="0" indent="0">
              <a:buNone/>
              <a:defRPr sz="2000" spc="100" baseline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cxnSp>
        <p:nvCxnSpPr>
          <p:cNvPr id="7" name="Прямая соединительная линия 6"/>
          <p:cNvCxnSpPr/>
          <p:nvPr/>
        </p:nvCxnSpPr>
        <p:spPr>
          <a:xfrm>
            <a:off x="685800" y="4916992"/>
            <a:ext cx="7924800" cy="4301"/>
          </a:xfrm>
          <a:prstGeom prst="line">
            <a:avLst/>
          </a:prstGeom>
          <a:noFill/>
          <a:ln w="9525" cap="flat" cmpd="sng" algn="ctr">
            <a:solidFill>
              <a:srgbClr val="E9E9E8"/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13.07.2026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11" name="Объект 10"/>
          <p:cNvSpPr>
            <a:spLocks noGrp="1"/>
          </p:cNvSpPr>
          <p:nvPr>
            <p:ph sz="half" idx="1"/>
          </p:nvPr>
        </p:nvSpPr>
        <p:spPr>
          <a:xfrm>
            <a:off x="457200" y="1524000"/>
            <a:ext cx="4059936" cy="4572000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13" name="Объект 12"/>
          <p:cNvSpPr>
            <a:spLocks noGrp="1"/>
          </p:cNvSpPr>
          <p:nvPr>
            <p:ph sz="half" idx="2"/>
          </p:nvPr>
        </p:nvSpPr>
        <p:spPr>
          <a:xfrm>
            <a:off x="4648200" y="1524000"/>
            <a:ext cx="4059936" cy="4572000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13.07.2026</a:t>
            </a:fld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399593"/>
            <a:ext cx="4040188" cy="762000"/>
          </a:xfrm>
          <a:noFill/>
          <a:ln w="25400" cap="rnd" cmpd="sng" algn="ctr">
            <a:noFill/>
            <a:prstDash val="solid"/>
          </a:ln>
          <a:effectLst>
            <a:softEdge rad="63500"/>
          </a:effectLst>
          <a:sp3d prstMaterial="flat"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lIns="91440" tIns="45720" rIns="91440" bIns="45720" anchor="b">
            <a:noAutofit/>
          </a:bodyPr>
          <a:lstStyle>
            <a:lvl1pPr marL="0" indent="0" algn="l">
              <a:spcBef>
                <a:spcPts val="0"/>
              </a:spcBef>
              <a:buNone/>
              <a:defRPr sz="2600" b="1">
                <a:solidFill>
                  <a:schemeClr val="tx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32" name="Объект 31"/>
          <p:cNvSpPr>
            <a:spLocks noGrp="1"/>
          </p:cNvSpPr>
          <p:nvPr>
            <p:ph sz="half" idx="2"/>
          </p:nvPr>
        </p:nvSpPr>
        <p:spPr>
          <a:xfrm>
            <a:off x="457200" y="2201896"/>
            <a:ext cx="4038600" cy="3913632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34" name="Объект 33"/>
          <p:cNvSpPr>
            <a:spLocks noGrp="1"/>
          </p:cNvSpPr>
          <p:nvPr>
            <p:ph sz="quarter" idx="4"/>
          </p:nvPr>
        </p:nvSpPr>
        <p:spPr>
          <a:xfrm>
            <a:off x="4649788" y="2201896"/>
            <a:ext cx="4038600" cy="3913632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155448"/>
            <a:ext cx="82296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12" name="Текст 11"/>
          <p:cNvSpPr>
            <a:spLocks noGrp="1"/>
          </p:cNvSpPr>
          <p:nvPr>
            <p:ph type="body" idx="3"/>
          </p:nvPr>
        </p:nvSpPr>
        <p:spPr>
          <a:xfrm>
            <a:off x="4648200" y="1399593"/>
            <a:ext cx="4040188" cy="762000"/>
          </a:xfrm>
          <a:noFill/>
          <a:ln w="25400" cap="rnd" cmpd="sng" algn="ctr">
            <a:noFill/>
            <a:prstDash val="solid"/>
          </a:ln>
          <a:effectLst>
            <a:softEdge rad="63500"/>
          </a:effectLst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lIns="91440" tIns="45720" rIns="91440" bIns="45720" anchor="b">
            <a:noAutofit/>
          </a:bodyPr>
          <a:lstStyle>
            <a:lvl1pPr marL="0" indent="0" algn="l">
              <a:spcBef>
                <a:spcPts val="0"/>
              </a:spcBef>
              <a:buNone/>
              <a:defRPr sz="2600" b="1" baseline="0">
                <a:solidFill>
                  <a:schemeClr val="tx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cxnSp>
        <p:nvCxnSpPr>
          <p:cNvPr id="10" name="Прямая соединительная линия 9"/>
          <p:cNvCxnSpPr/>
          <p:nvPr/>
        </p:nvCxnSpPr>
        <p:spPr>
          <a:xfrm>
            <a:off x="562945" y="2180219"/>
            <a:ext cx="3749040" cy="1588"/>
          </a:xfrm>
          <a:prstGeom prst="line">
            <a:avLst/>
          </a:prstGeom>
          <a:noFill/>
          <a:ln w="12700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4925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Прямая соединительная линия 16"/>
          <p:cNvCxnSpPr/>
          <p:nvPr/>
        </p:nvCxnSpPr>
        <p:spPr>
          <a:xfrm>
            <a:off x="4754880" y="2180219"/>
            <a:ext cx="3749040" cy="1588"/>
          </a:xfrm>
          <a:prstGeom prst="line">
            <a:avLst/>
          </a:prstGeom>
          <a:noFill/>
          <a:ln w="12700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4925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13.07.2026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13.07.2026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Объект 28"/>
          <p:cNvSpPr>
            <a:spLocks noGrp="1"/>
          </p:cNvSpPr>
          <p:nvPr>
            <p:ph sz="quarter" idx="1"/>
          </p:nvPr>
        </p:nvSpPr>
        <p:spPr>
          <a:xfrm>
            <a:off x="457200" y="457200"/>
            <a:ext cx="6248400" cy="5715000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2"/>
          </p:nvPr>
        </p:nvSpPr>
        <p:spPr>
          <a:xfrm>
            <a:off x="6781800" y="1600200"/>
            <a:ext cx="1984248" cy="3733800"/>
          </a:xfrm>
        </p:spPr>
        <p:txBody>
          <a:bodyPr tIns="45720" bIns="45720" anchor="t" anchorCtr="0"/>
          <a:lstStyle>
            <a:lvl1pPr marL="0" indent="0">
              <a:lnSpc>
                <a:spcPct val="1250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31" name="Заголовок 30"/>
          <p:cNvSpPr>
            <a:spLocks noGrp="1"/>
          </p:cNvSpPr>
          <p:nvPr>
            <p:ph type="title"/>
          </p:nvPr>
        </p:nvSpPr>
        <p:spPr>
          <a:xfrm>
            <a:off x="6781800" y="457200"/>
            <a:ext cx="1981200" cy="1066800"/>
          </a:xfrm>
        </p:spPr>
        <p:txBody>
          <a:bodyPr lIns="91440" tIns="91440" anchor="b" anchorCtr="0"/>
          <a:lstStyle>
            <a:lvl1pPr algn="l">
              <a:buNone/>
              <a:defRPr sz="1800" b="1" spc="-50" baseline="0">
                <a:ln w="3175">
                  <a:noFill/>
                </a:ln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8" name="Дата 7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13.07.2026</a:t>
            </a:fld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sp>
        <p:nvSpPr>
          <p:cNvPr id="10" name="Нижний колонтитул 9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629400" y="457200"/>
            <a:ext cx="2057400" cy="1066800"/>
          </a:xfrm>
        </p:spPr>
        <p:txBody>
          <a:bodyPr lIns="91440" tIns="91440" anchor="b" anchorCtr="0"/>
          <a:lstStyle>
            <a:lvl1pPr algn="l">
              <a:buNone/>
              <a:defRPr sz="1800" b="1" spc="-50" baseline="0">
                <a:ln w="3175">
                  <a:noFill/>
                </a:ln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457200" y="457200"/>
            <a:ext cx="6019800" cy="5562600"/>
          </a:xfrm>
          <a:solidFill>
            <a:schemeClr val="tx2">
              <a:tint val="40000"/>
            </a:schemeClr>
          </a:solidFill>
          <a:effectLst>
            <a:outerShdw blurRad="88900" sx="103000" sy="103000" algn="ctr" rotWithShape="0">
              <a:prstClr val="black">
                <a:alpha val="32000"/>
              </a:prstClr>
            </a:outerShdw>
            <a:softEdge rad="127000"/>
          </a:effectLst>
        </p:spPr>
        <p:txBody>
          <a:bodyPr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</a:lstStyle>
          <a:p>
            <a:r>
              <a:rPr kumimoji="0" lang="ru-RU" smtClean="0"/>
              <a:t>Вставка рисунка</a:t>
            </a:r>
            <a:endParaRPr kumimoji="0" lang="en-US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629400" y="1600200"/>
            <a:ext cx="2057400" cy="4419600"/>
          </a:xfrm>
        </p:spPr>
        <p:txBody>
          <a:bodyPr anchor="t" anchorCtr="0"/>
          <a:lstStyle>
            <a:lvl1pPr marL="0" indent="0">
              <a:lnSpc>
                <a:spcPct val="125000"/>
              </a:lnSpc>
              <a:spcAft>
                <a:spcPts val="1000"/>
              </a:spcAft>
              <a:buFontTx/>
              <a:buNone/>
              <a:defRPr sz="1600" b="0">
                <a:solidFill>
                  <a:schemeClr val="tx2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8" name="Дата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13.07.2026</a:t>
            </a:fld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sp>
        <p:nvSpPr>
          <p:cNvPr id="10" name="Нижний колонтитул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13.07.2026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13.07.2026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Текст 8"/>
          <p:cNvSpPr>
            <a:spLocks noGrp="1"/>
          </p:cNvSpPr>
          <p:nvPr>
            <p:ph type="body" idx="1"/>
          </p:nvPr>
        </p:nvSpPr>
        <p:spPr>
          <a:xfrm>
            <a:off x="457200" y="1447800"/>
            <a:ext cx="8229600" cy="46783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ru-RU" smtClean="0"/>
              <a:t>Образец текста</a:t>
            </a:r>
          </a:p>
          <a:p>
            <a:pPr lvl="1" eaLnBrk="1" latinLnBrk="0" hangingPunct="1"/>
            <a:r>
              <a:rPr kumimoji="0" lang="ru-RU" smtClean="0"/>
              <a:t>Второй уровень</a:t>
            </a:r>
          </a:p>
          <a:p>
            <a:pPr lvl="2" eaLnBrk="1" latinLnBrk="0" hangingPunct="1"/>
            <a:r>
              <a:rPr kumimoji="0" lang="ru-RU" smtClean="0"/>
              <a:t>Третий уровень</a:t>
            </a:r>
          </a:p>
          <a:p>
            <a:pPr lvl="3" eaLnBrk="1" latinLnBrk="0" hangingPunct="1"/>
            <a:r>
              <a:rPr kumimoji="0" lang="ru-RU" smtClean="0"/>
              <a:t>Четвертый уровень</a:t>
            </a:r>
          </a:p>
          <a:p>
            <a:pPr lvl="4" eaLnBrk="1" latinLnBrk="0" hangingPunct="1"/>
            <a:r>
              <a:rPr kumimoji="0" lang="ru-RU" smtClean="0"/>
              <a:t>Пятый уровень</a:t>
            </a:r>
            <a:endParaRPr kumimoji="0" lang="en-US"/>
          </a:p>
        </p:txBody>
      </p:sp>
      <p:sp>
        <p:nvSpPr>
          <p:cNvPr id="24" name="Дата 23"/>
          <p:cNvSpPr>
            <a:spLocks noGrp="1"/>
          </p:cNvSpPr>
          <p:nvPr>
            <p:ph type="dt" sz="half" idx="2"/>
          </p:nvPr>
        </p:nvSpPr>
        <p:spPr>
          <a:xfrm>
            <a:off x="5791200" y="6203667"/>
            <a:ext cx="2590800" cy="384048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B4C71EC6-210F-42DE-9C53-41977AD35B3D}" type="datetimeFigureOut">
              <a:rPr lang="ru-RU" smtClean="0"/>
              <a:t>13.07.2026</a:t>
            </a:fld>
            <a:endParaRPr lang="ru-RU"/>
          </a:p>
        </p:txBody>
      </p:sp>
      <p:sp>
        <p:nvSpPr>
          <p:cNvPr id="10" name="Нижний колонтитул 9"/>
          <p:cNvSpPr>
            <a:spLocks noGrp="1"/>
          </p:cNvSpPr>
          <p:nvPr>
            <p:ph type="ftr" sz="quarter" idx="3"/>
          </p:nvPr>
        </p:nvSpPr>
        <p:spPr>
          <a:xfrm>
            <a:off x="2133600" y="6203667"/>
            <a:ext cx="358140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22" name="Номер слайда 21"/>
          <p:cNvSpPr>
            <a:spLocks noGrp="1"/>
          </p:cNvSpPr>
          <p:nvPr>
            <p:ph type="sldNum" sz="quarter" idx="4"/>
          </p:nvPr>
        </p:nvSpPr>
        <p:spPr>
          <a:xfrm>
            <a:off x="8410575" y="6181531"/>
            <a:ext cx="609600" cy="457200"/>
          </a:xfrm>
          <a:prstGeom prst="rect">
            <a:avLst/>
          </a:prstGeom>
          <a:noFill/>
        </p:spPr>
        <p:txBody>
          <a:bodyPr vert="horz" lIns="0" tIns="0" rIns="0" bIns="0" anchor="ctr" anchorCtr="0">
            <a:noAutofit/>
          </a:bodyPr>
          <a:lstStyle>
            <a:lvl1pPr algn="ctr" eaLnBrk="1" latinLnBrk="0" hangingPunct="1">
              <a:defRPr kumimoji="0" sz="1600" baseline="0">
                <a:solidFill>
                  <a:schemeClr val="tx2"/>
                </a:solidFill>
              </a:defRPr>
            </a:lvl1pPr>
          </a:lstStyle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sp>
        <p:nvSpPr>
          <p:cNvPr id="5" name="Заголовок 4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219200"/>
          </a:xfrm>
          <a:prstGeom prst="rect">
            <a:avLst/>
          </a:prstGeom>
          <a:ln w="6350" cap="rnd">
            <a:noFill/>
          </a:ln>
        </p:spPr>
        <p:txBody>
          <a:bodyPr vert="horz" anchor="b" anchorCtr="0">
            <a:normAutofit/>
          </a:bodyPr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lang="en-US" sz="4200" b="0" kern="1200" spc="-100" baseline="0" dirty="0">
          <a:ln w="3200">
            <a:solidFill>
              <a:schemeClr val="bg2">
                <a:shade val="75000"/>
                <a:alpha val="25000"/>
              </a:schemeClr>
            </a:solidFill>
            <a:prstDash val="solid"/>
            <a:round/>
          </a:ln>
          <a:solidFill>
            <a:srgbClr val="F9F9F9"/>
          </a:solidFill>
          <a:effectLst>
            <a:innerShdw blurRad="50800" dist="25400" dir="13500000">
              <a:prstClr val="black">
                <a:alpha val="70000"/>
              </a:prstClr>
            </a:innerShdw>
          </a:effectLst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2"/>
        </a:buClr>
        <a:buSzPct val="8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300"/>
        </a:spcBef>
        <a:buClr>
          <a:schemeClr val="accent2">
            <a:shade val="75000"/>
          </a:schemeClr>
        </a:buClr>
        <a:buSzPct val="85000"/>
        <a:buFont typeface="Wingdings 2"/>
        <a:buChar char=""/>
        <a:defRPr kumimoji="0" sz="2400" kern="1200">
          <a:solidFill>
            <a:schemeClr val="tx2"/>
          </a:solidFill>
          <a:latin typeface="+mn-lt"/>
          <a:ea typeface="+mn-ea"/>
          <a:cs typeface="+mn-cs"/>
        </a:defRPr>
      </a:lvl2pPr>
      <a:lvl3pPr marL="1005840" indent="-228600" algn="l" rtl="0" eaLnBrk="1" latinLnBrk="0" hangingPunct="1">
        <a:spcBef>
          <a:spcPts val="300"/>
        </a:spcBef>
        <a:buClr>
          <a:schemeClr val="accent2">
            <a:shade val="50000"/>
          </a:schemeClr>
        </a:buClr>
        <a:buSzPct val="85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28600" algn="l" rtl="0" eaLnBrk="1" latinLnBrk="0" hangingPunct="1">
        <a:spcBef>
          <a:spcPts val="30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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indent="-22860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828800" indent="-22860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?"/>
        <a:defRPr kumimoji="0"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?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?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?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179512" y="188640"/>
            <a:ext cx="8784976" cy="66171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4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Тема </a:t>
            </a:r>
            <a:r>
              <a:rPr lang="ru-RU" sz="44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3. Специфика метеорологии для </a:t>
            </a:r>
            <a:r>
              <a:rPr lang="ru-RU" sz="4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БПЛА</a:t>
            </a:r>
          </a:p>
          <a:p>
            <a:pPr marL="342900" indent="-342900" algn="ctr">
              <a:buAutoNum type="arabicPeriod"/>
            </a:pPr>
            <a:r>
              <a:rPr lang="ru-RU" sz="4400" dirty="0" smtClean="0">
                <a:solidFill>
                  <a:srgbClr val="92D050"/>
                </a:solidFill>
                <a:latin typeface="Times New Roman" pitchFamily="18" charset="0"/>
                <a:cs typeface="Times New Roman" pitchFamily="18" charset="0"/>
              </a:rPr>
              <a:t>Особенности </a:t>
            </a:r>
            <a:r>
              <a:rPr lang="ru-RU" sz="4400" dirty="0">
                <a:solidFill>
                  <a:srgbClr val="92D050"/>
                </a:solidFill>
                <a:latin typeface="Times New Roman" pitchFamily="18" charset="0"/>
                <a:cs typeface="Times New Roman" pitchFamily="18" charset="0"/>
              </a:rPr>
              <a:t>метеоусловий на малых и средних </a:t>
            </a:r>
            <a:r>
              <a:rPr lang="ru-RU" sz="4400" dirty="0" smtClean="0">
                <a:solidFill>
                  <a:srgbClr val="92D050"/>
                </a:solidFill>
                <a:latin typeface="Times New Roman" pitchFamily="18" charset="0"/>
                <a:cs typeface="Times New Roman" pitchFamily="18" charset="0"/>
              </a:rPr>
              <a:t>высотах          </a:t>
            </a:r>
            <a:r>
              <a:rPr lang="ru-RU" sz="4400" dirty="0">
                <a:solidFill>
                  <a:srgbClr val="92D050"/>
                </a:solidFill>
                <a:latin typeface="Times New Roman" pitchFamily="18" charset="0"/>
                <a:cs typeface="Times New Roman" pitchFamily="18" charset="0"/>
              </a:rPr>
              <a:t>(до 150–300 м</a:t>
            </a:r>
            <a:r>
              <a:rPr lang="ru-RU" sz="4400" dirty="0" smtClean="0">
                <a:solidFill>
                  <a:srgbClr val="92D050"/>
                </a:solidFill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 marL="342900" indent="-342900">
              <a:buAutoNum type="arabicPeriod"/>
            </a:pPr>
            <a:endParaRPr lang="ru-RU" sz="44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ru-RU" sz="3200" dirty="0" smtClean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ru-RU" sz="3200" b="1" dirty="0" smtClean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Большинство </a:t>
            </a:r>
            <a:r>
              <a:rPr lang="ru-RU" sz="3200" b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полётов БПЛА (особенно </a:t>
            </a:r>
            <a:r>
              <a:rPr lang="ru-RU" sz="3200" b="1" dirty="0" err="1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мультикоптеров</a:t>
            </a:r>
            <a:r>
              <a:rPr lang="ru-RU" sz="3200" b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) происходит в пограничном слое атмосферы (до 1–1,5 км, чаще до 300 м). Здесь метеоусловия наиболее изменчивы и отличаются от стандартной авиации</a:t>
            </a:r>
            <a:r>
              <a:rPr lang="ru-RU" sz="3200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292491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251520" y="289679"/>
            <a:ext cx="8640960" cy="60016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200" dirty="0">
                <a:solidFill>
                  <a:srgbClr val="92D050"/>
                </a:solidFill>
                <a:latin typeface="Times New Roman" pitchFamily="18" charset="0"/>
                <a:cs typeface="Times New Roman" pitchFamily="18" charset="0"/>
              </a:rPr>
              <a:t>Ключевые особенности:</a:t>
            </a:r>
          </a:p>
          <a:p>
            <a:r>
              <a:rPr lang="ru-RU" sz="3200" dirty="0">
                <a:latin typeface="Times New Roman" pitchFamily="18" charset="0"/>
                <a:cs typeface="Times New Roman" pitchFamily="18" charset="0"/>
              </a:rPr>
              <a:t>•	</a:t>
            </a:r>
            <a:r>
              <a:rPr lang="ru-RU" sz="3200" dirty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Высокая турбулентность (механическая и термическая).</a:t>
            </a:r>
          </a:p>
          <a:p>
            <a:r>
              <a:rPr lang="ru-RU" sz="3200" dirty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•	Сильные градиенты ветра, температуры и влажности с высотой.</a:t>
            </a:r>
          </a:p>
          <a:p>
            <a:r>
              <a:rPr lang="ru-RU" sz="3200" dirty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•	Влияние подстилающей поверхности (рельеф, растительность, вода).</a:t>
            </a:r>
          </a:p>
          <a:p>
            <a:r>
              <a:rPr lang="ru-RU" sz="3200" dirty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•	Быстрое изменение условий: приземный ветер, температурные инверсии, локальные конвекции.</a:t>
            </a:r>
          </a:p>
          <a:p>
            <a:r>
              <a:rPr lang="ru-RU" sz="3200" dirty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•	Повышенная влажность и риск обледенения/конденсации на малых высотах.</a:t>
            </a:r>
          </a:p>
        </p:txBody>
      </p:sp>
    </p:spTree>
    <p:extLst>
      <p:ext uri="{BB962C8B-B14F-4D97-AF65-F5344CB8AC3E}">
        <p14:creationId xmlns:p14="http://schemas.microsoft.com/office/powerpoint/2010/main" val="37630521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179512" y="119225"/>
            <a:ext cx="8964488" cy="67403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600" dirty="0">
                <a:solidFill>
                  <a:srgbClr val="FFFF00"/>
                </a:solidFill>
              </a:rPr>
              <a:t>Влияние на БПЛА:</a:t>
            </a:r>
          </a:p>
          <a:p>
            <a:r>
              <a:rPr lang="ru-RU" sz="3600" dirty="0"/>
              <a:t>•	</a:t>
            </a:r>
            <a:r>
              <a:rPr lang="ru-RU" sz="3600" dirty="0">
                <a:solidFill>
                  <a:srgbClr val="002060"/>
                </a:solidFill>
              </a:rPr>
              <a:t>Снижение стабильности полёта, сложности взлёта/посадки.</a:t>
            </a:r>
          </a:p>
          <a:p>
            <a:r>
              <a:rPr lang="ru-RU" sz="3600" dirty="0">
                <a:solidFill>
                  <a:srgbClr val="002060"/>
                </a:solidFill>
              </a:rPr>
              <a:t>•	Увеличение </a:t>
            </a:r>
            <a:r>
              <a:rPr lang="ru-RU" sz="3600" dirty="0" err="1">
                <a:solidFill>
                  <a:srgbClr val="002060"/>
                </a:solidFill>
              </a:rPr>
              <a:t>энергозатрат</a:t>
            </a:r>
            <a:r>
              <a:rPr lang="ru-RU" sz="3600" dirty="0">
                <a:solidFill>
                  <a:srgbClr val="002060"/>
                </a:solidFill>
              </a:rPr>
              <a:t> и сокращение времени полёта.</a:t>
            </a:r>
          </a:p>
          <a:p>
            <a:r>
              <a:rPr lang="ru-RU" sz="3600" dirty="0">
                <a:solidFill>
                  <a:srgbClr val="002060"/>
                </a:solidFill>
              </a:rPr>
              <a:t>•	Ошибки в работе барометрических и воздушных датчиков</a:t>
            </a:r>
            <a:r>
              <a:rPr lang="ru-RU" sz="3600" dirty="0" smtClean="0">
                <a:solidFill>
                  <a:srgbClr val="002060"/>
                </a:solidFill>
              </a:rPr>
              <a:t>.</a:t>
            </a:r>
          </a:p>
          <a:p>
            <a:endParaRPr lang="ru-RU" sz="3600" dirty="0">
              <a:solidFill>
                <a:srgbClr val="002060"/>
              </a:solidFill>
            </a:endParaRPr>
          </a:p>
          <a:p>
            <a:r>
              <a:rPr lang="ru-RU" sz="3600" dirty="0" smtClean="0">
                <a:solidFill>
                  <a:srgbClr val="002060"/>
                </a:solidFill>
              </a:rPr>
              <a:t>	На </a:t>
            </a:r>
            <a:r>
              <a:rPr lang="ru-RU" sz="3600" dirty="0">
                <a:solidFill>
                  <a:srgbClr val="002060"/>
                </a:solidFill>
              </a:rPr>
              <a:t>этих высотах стандартные метеосводки (с метеостанций) часто недостаточны — требуется локальный мониторинг.</a:t>
            </a:r>
          </a:p>
        </p:txBody>
      </p:sp>
    </p:spTree>
    <p:extLst>
      <p:ext uri="{BB962C8B-B14F-4D97-AF65-F5344CB8AC3E}">
        <p14:creationId xmlns:p14="http://schemas.microsoft.com/office/powerpoint/2010/main" val="18805447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193406" y="188640"/>
            <a:ext cx="8712968" cy="61247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800" dirty="0" smtClean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ru-RU" sz="2800" dirty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. Городской микроклимат и влияние застройки на ветер и турбулентность</a:t>
            </a:r>
          </a:p>
          <a:p>
            <a:r>
              <a:rPr lang="ru-RU" sz="28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Городской "остров тепла": температура в городе на 2–12°C выше, чем в окрестностях (из-за антропогенного тепла, асфальта, зданий). Сниженная влажность, раньше тает снег.</a:t>
            </a:r>
          </a:p>
          <a:p>
            <a:pPr algn="ctr"/>
            <a:r>
              <a:rPr lang="ru-RU" sz="2800" dirty="0">
                <a:solidFill>
                  <a:srgbClr val="92D050"/>
                </a:solidFill>
                <a:latin typeface="Times New Roman" pitchFamily="18" charset="0"/>
                <a:cs typeface="Times New Roman" pitchFamily="18" charset="0"/>
              </a:rPr>
              <a:t>Влияние застройки ("городские каньоны"):</a:t>
            </a:r>
          </a:p>
          <a:p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•	</a:t>
            </a:r>
            <a:r>
              <a:rPr lang="ru-RU" sz="2800" dirty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Ускорение и </a:t>
            </a:r>
            <a:r>
              <a:rPr lang="ru-RU" sz="2800" dirty="0" err="1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турбулизация</a:t>
            </a:r>
            <a:r>
              <a:rPr lang="ru-RU" sz="2800" dirty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 ветра между зданиями (эффект "коридора").</a:t>
            </a:r>
          </a:p>
          <a:p>
            <a:r>
              <a:rPr lang="ru-RU" sz="2800" dirty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•	Затишье в "ветровой тени" за высокими строениями.</a:t>
            </a:r>
          </a:p>
          <a:p>
            <a:r>
              <a:rPr lang="ru-RU" sz="2800" dirty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•	Сдвиги ветра и вихри на перекрёстках, над крышами.</a:t>
            </a:r>
          </a:p>
          <a:p>
            <a:r>
              <a:rPr lang="ru-RU" sz="2800" dirty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•	Повышенная турбулентность в приземном слое.</a:t>
            </a:r>
          </a:p>
        </p:txBody>
      </p:sp>
    </p:spTree>
    <p:extLst>
      <p:ext uri="{BB962C8B-B14F-4D97-AF65-F5344CB8AC3E}">
        <p14:creationId xmlns:p14="http://schemas.microsoft.com/office/powerpoint/2010/main" val="27672823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299390" y="476672"/>
            <a:ext cx="8640960" cy="61863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600" dirty="0">
                <a:solidFill>
                  <a:srgbClr val="92D050"/>
                </a:solidFill>
                <a:latin typeface="Times New Roman" pitchFamily="18" charset="0"/>
                <a:cs typeface="Times New Roman" pitchFamily="18" charset="0"/>
              </a:rPr>
              <a:t>Риски для БПЛА:</a:t>
            </a:r>
          </a:p>
          <a:p>
            <a:r>
              <a:rPr lang="ru-RU" sz="36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•	Непредсказуемые порывы, потеря высоты, столкновения.</a:t>
            </a:r>
          </a:p>
          <a:p>
            <a:r>
              <a:rPr lang="ru-RU" sz="36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•	Сложности при полётах вдоль улиц или между зданиями.</a:t>
            </a:r>
          </a:p>
          <a:p>
            <a:r>
              <a:rPr lang="ru-RU" sz="36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•	Увеличенная нагрузка на системы стабилизации</a:t>
            </a:r>
            <a:r>
              <a:rPr lang="ru-RU" sz="3600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endParaRPr lang="ru-RU" sz="3600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ru-RU" sz="3600" dirty="0" smtClean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ru-RU" sz="3600" dirty="0" smtClean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В </a:t>
            </a:r>
            <a:r>
              <a:rPr lang="ru-RU" sz="3600" dirty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городах необходимы 3D-модели ветрового режима и локальные датчики для безопасного планирования.</a:t>
            </a:r>
          </a:p>
        </p:txBody>
      </p:sp>
    </p:spTree>
    <p:extLst>
      <p:ext uri="{BB962C8B-B14F-4D97-AF65-F5344CB8AC3E}">
        <p14:creationId xmlns:p14="http://schemas.microsoft.com/office/powerpoint/2010/main" val="22415269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306388" y="289679"/>
            <a:ext cx="8568952" cy="60016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2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3</a:t>
            </a:r>
            <a:r>
              <a:rPr lang="ru-RU" sz="32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. Метеорологические условия в помещениях и около зданий (</a:t>
            </a:r>
            <a:r>
              <a:rPr lang="ru-RU" sz="3200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indoor</a:t>
            </a:r>
            <a:r>
              <a:rPr lang="ru-RU" sz="32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/</a:t>
            </a:r>
            <a:r>
              <a:rPr lang="ru-RU" sz="3200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outdoor</a:t>
            </a:r>
            <a:r>
              <a:rPr lang="ru-RU" sz="32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переходы</a:t>
            </a:r>
            <a:r>
              <a:rPr lang="ru-RU" sz="32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endParaRPr lang="ru-RU" sz="3200" dirty="0"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ru-RU" sz="3200" dirty="0" err="1">
                <a:solidFill>
                  <a:srgbClr val="92D050"/>
                </a:solidFill>
                <a:latin typeface="Times New Roman" pitchFamily="18" charset="0"/>
                <a:cs typeface="Times New Roman" pitchFamily="18" charset="0"/>
              </a:rPr>
              <a:t>Indoor</a:t>
            </a:r>
            <a:r>
              <a:rPr lang="ru-RU" sz="3200" dirty="0">
                <a:solidFill>
                  <a:srgbClr val="92D050"/>
                </a:solidFill>
                <a:latin typeface="Times New Roman" pitchFamily="18" charset="0"/>
                <a:cs typeface="Times New Roman" pitchFamily="18" charset="0"/>
              </a:rPr>
              <a:t> (в помещениях):</a:t>
            </a:r>
          </a:p>
          <a:p>
            <a:r>
              <a:rPr lang="ru-RU" sz="3200" dirty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•	Отсутствие/слабый ветер, стабильная температура (но возможны сквозняки).</a:t>
            </a:r>
          </a:p>
          <a:p>
            <a:r>
              <a:rPr lang="ru-RU" sz="3200" dirty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•	Высокая влажность, пыль, ограниченная видимость.</a:t>
            </a:r>
          </a:p>
          <a:p>
            <a:r>
              <a:rPr lang="ru-RU" sz="3200" dirty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•	Отсутствие GNSS-сигнала (многоэтажные здания, экранирование).</a:t>
            </a:r>
          </a:p>
          <a:p>
            <a:r>
              <a:rPr lang="ru-RU" sz="3200" dirty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•	Турбулентность от вентиляционных систем, открывающихся дверей.</a:t>
            </a:r>
          </a:p>
        </p:txBody>
      </p:sp>
    </p:spTree>
    <p:extLst>
      <p:ext uri="{BB962C8B-B14F-4D97-AF65-F5344CB8AC3E}">
        <p14:creationId xmlns:p14="http://schemas.microsoft.com/office/powerpoint/2010/main" val="12428135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173630" y="260648"/>
            <a:ext cx="8712968" cy="6494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200" dirty="0" err="1">
                <a:solidFill>
                  <a:srgbClr val="92D050"/>
                </a:solidFill>
              </a:rPr>
              <a:t>Outdoor</a:t>
            </a:r>
            <a:r>
              <a:rPr lang="ru-RU" sz="3200" dirty="0">
                <a:solidFill>
                  <a:srgbClr val="92D050"/>
                </a:solidFill>
              </a:rPr>
              <a:t> (на улице) около зданий:</a:t>
            </a:r>
          </a:p>
          <a:p>
            <a:r>
              <a:rPr lang="ru-RU" sz="3200" dirty="0">
                <a:solidFill>
                  <a:srgbClr val="FFFF00"/>
                </a:solidFill>
              </a:rPr>
              <a:t>•</a:t>
            </a:r>
            <a:r>
              <a:rPr lang="ru-RU" sz="3200" dirty="0"/>
              <a:t>	</a:t>
            </a:r>
            <a:r>
              <a:rPr lang="ru-RU" sz="3200" dirty="0">
                <a:solidFill>
                  <a:srgbClr val="FFFF00"/>
                </a:solidFill>
              </a:rPr>
              <a:t>Резкие переходы: порывы ветра у углов, нисходящие потоки с крыш.</a:t>
            </a:r>
          </a:p>
          <a:p>
            <a:r>
              <a:rPr lang="ru-RU" sz="3200" dirty="0">
                <a:solidFill>
                  <a:srgbClr val="FFFF00"/>
                </a:solidFill>
              </a:rPr>
              <a:t>•	Температурные контрасты (тень/солнце).</a:t>
            </a:r>
          </a:p>
          <a:p>
            <a:r>
              <a:rPr lang="ru-RU" sz="3200" dirty="0">
                <a:solidFill>
                  <a:srgbClr val="FFFF00"/>
                </a:solidFill>
              </a:rPr>
              <a:t>•	Локальные вихри и рециркуляция воздуха.</a:t>
            </a:r>
          </a:p>
          <a:p>
            <a:pPr algn="ctr"/>
            <a:r>
              <a:rPr lang="ru-RU" sz="3200" dirty="0">
                <a:solidFill>
                  <a:srgbClr val="92D050"/>
                </a:solidFill>
              </a:rPr>
              <a:t>Переходы </a:t>
            </a:r>
            <a:r>
              <a:rPr lang="ru-RU" sz="3200" dirty="0" err="1">
                <a:solidFill>
                  <a:srgbClr val="92D050"/>
                </a:solidFill>
              </a:rPr>
              <a:t>indoor</a:t>
            </a:r>
            <a:r>
              <a:rPr lang="ru-RU" sz="3200" dirty="0">
                <a:solidFill>
                  <a:srgbClr val="92D050"/>
                </a:solidFill>
              </a:rPr>
              <a:t>/</a:t>
            </a:r>
            <a:r>
              <a:rPr lang="ru-RU" sz="3200" dirty="0" err="1">
                <a:solidFill>
                  <a:srgbClr val="92D050"/>
                </a:solidFill>
              </a:rPr>
              <a:t>outdoor</a:t>
            </a:r>
            <a:r>
              <a:rPr lang="ru-RU" sz="3200" dirty="0">
                <a:solidFill>
                  <a:srgbClr val="92D050"/>
                </a:solidFill>
              </a:rPr>
              <a:t>:</a:t>
            </a:r>
          </a:p>
          <a:p>
            <a:r>
              <a:rPr lang="ru-RU" sz="3200" dirty="0">
                <a:solidFill>
                  <a:srgbClr val="FFFF00"/>
                </a:solidFill>
              </a:rPr>
              <a:t>•	Резкое изменение ветра, освещённости, давления.</a:t>
            </a:r>
          </a:p>
          <a:p>
            <a:r>
              <a:rPr lang="ru-RU" sz="3200" dirty="0">
                <a:solidFill>
                  <a:srgbClr val="FFFF00"/>
                </a:solidFill>
              </a:rPr>
              <a:t>•	Потеря визуальной референции и GNSS.</a:t>
            </a:r>
          </a:p>
          <a:p>
            <a:r>
              <a:rPr lang="ru-RU" sz="3200" dirty="0">
                <a:solidFill>
                  <a:srgbClr val="FFFF00"/>
                </a:solidFill>
              </a:rPr>
              <a:t>•	Риск дестабилизации при выходе/входе (особенно для автономных систем).</a:t>
            </a:r>
          </a:p>
        </p:txBody>
      </p:sp>
    </p:spTree>
    <p:extLst>
      <p:ext uri="{BB962C8B-B14F-4D97-AF65-F5344CB8AC3E}">
        <p14:creationId xmlns:p14="http://schemas.microsoft.com/office/powerpoint/2010/main" val="11380203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323528" y="404664"/>
            <a:ext cx="8245424" cy="60016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4800" dirty="0">
                <a:solidFill>
                  <a:srgbClr val="92D050"/>
                </a:solidFill>
                <a:latin typeface="Times New Roman" pitchFamily="18" charset="0"/>
                <a:cs typeface="Times New Roman" pitchFamily="18" charset="0"/>
              </a:rPr>
              <a:t>Особенности БПЛА: </a:t>
            </a:r>
            <a:r>
              <a:rPr lang="ru-RU" sz="4800" dirty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Требуются гибридные системы навигации (визуальный одометр, оптический поток, ИНС, UWB). Полёты в помещениях требуют специальных алгоритмов и датчиков.</a:t>
            </a:r>
          </a:p>
        </p:txBody>
      </p:sp>
    </p:spTree>
    <p:extLst>
      <p:ext uri="{BB962C8B-B14F-4D97-AF65-F5344CB8AC3E}">
        <p14:creationId xmlns:p14="http://schemas.microsoft.com/office/powerpoint/2010/main" val="34463423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179512" y="260648"/>
            <a:ext cx="8568952" cy="6494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2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4</a:t>
            </a:r>
            <a:r>
              <a:rPr lang="ru-RU" sz="32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. Влияние метеофакторов на работу GNSS, оптических и инфракрасных датчиков</a:t>
            </a:r>
          </a:p>
          <a:p>
            <a:pPr algn="ctr"/>
            <a:endParaRPr lang="ru-RU" sz="3200" dirty="0" smtClean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ru-RU" sz="3200" dirty="0" smtClean="0">
                <a:solidFill>
                  <a:srgbClr val="92D050"/>
                </a:solidFill>
                <a:latin typeface="Times New Roman" pitchFamily="18" charset="0"/>
                <a:cs typeface="Times New Roman" pitchFamily="18" charset="0"/>
              </a:rPr>
              <a:t>GNSS </a:t>
            </a:r>
            <a:r>
              <a:rPr lang="ru-RU" sz="3200" dirty="0">
                <a:solidFill>
                  <a:srgbClr val="92D050"/>
                </a:solidFill>
                <a:latin typeface="Times New Roman" pitchFamily="18" charset="0"/>
                <a:cs typeface="Times New Roman" pitchFamily="18" charset="0"/>
              </a:rPr>
              <a:t>(GPS/ГЛОНАСС и др</a:t>
            </a:r>
            <a:r>
              <a:rPr lang="ru-RU" sz="3200" dirty="0" smtClean="0">
                <a:solidFill>
                  <a:srgbClr val="92D050"/>
                </a:solidFill>
                <a:latin typeface="Times New Roman" pitchFamily="18" charset="0"/>
                <a:cs typeface="Times New Roman" pitchFamily="18" charset="0"/>
              </a:rPr>
              <a:t>.):</a:t>
            </a:r>
          </a:p>
          <a:p>
            <a:r>
              <a:rPr lang="ru-RU" sz="3200" dirty="0" smtClean="0">
                <a:latin typeface="Times New Roman" pitchFamily="18" charset="0"/>
                <a:cs typeface="Times New Roman" pitchFamily="18" charset="0"/>
              </a:rPr>
              <a:t>•</a:t>
            </a:r>
            <a:r>
              <a:rPr lang="ru-RU" sz="3200" dirty="0">
                <a:latin typeface="Times New Roman" pitchFamily="18" charset="0"/>
                <a:cs typeface="Times New Roman" pitchFamily="18" charset="0"/>
              </a:rPr>
              <a:t>	Ветер и турбулентность: косвенно (колебания антенны → ошибки).</a:t>
            </a:r>
          </a:p>
          <a:p>
            <a:r>
              <a:rPr lang="ru-RU" sz="3200" dirty="0">
                <a:latin typeface="Times New Roman" pitchFamily="18" charset="0"/>
                <a:cs typeface="Times New Roman" pitchFamily="18" charset="0"/>
              </a:rPr>
              <a:t>•	Облачность, осадки, ионосферные возмущения (солнечная активность): задержки сигналов, потеря спутников.</a:t>
            </a:r>
          </a:p>
          <a:p>
            <a:r>
              <a:rPr lang="ru-RU" sz="3200" dirty="0">
                <a:latin typeface="Times New Roman" pitchFamily="18" charset="0"/>
                <a:cs typeface="Times New Roman" pitchFamily="18" charset="0"/>
              </a:rPr>
              <a:t>•	Городская застройка + погода: </a:t>
            </a:r>
            <a:r>
              <a:rPr lang="ru-RU" sz="3200" dirty="0" err="1">
                <a:latin typeface="Times New Roman" pitchFamily="18" charset="0"/>
                <a:cs typeface="Times New Roman" pitchFamily="18" charset="0"/>
              </a:rPr>
              <a:t>мультипуть</a:t>
            </a:r>
            <a:r>
              <a:rPr lang="ru-RU" sz="3200" dirty="0">
                <a:latin typeface="Times New Roman" pitchFamily="18" charset="0"/>
                <a:cs typeface="Times New Roman" pitchFamily="18" charset="0"/>
              </a:rPr>
              <a:t> (отражения), экранирование.</a:t>
            </a:r>
          </a:p>
          <a:p>
            <a:r>
              <a:rPr lang="ru-RU" sz="3200" dirty="0">
                <a:latin typeface="Times New Roman" pitchFamily="18" charset="0"/>
                <a:cs typeface="Times New Roman" pitchFamily="18" charset="0"/>
              </a:rPr>
              <a:t>•	Низкие температуры: снижение точности приёмников.</a:t>
            </a:r>
          </a:p>
        </p:txBody>
      </p:sp>
    </p:spTree>
    <p:extLst>
      <p:ext uri="{BB962C8B-B14F-4D97-AF65-F5344CB8AC3E}">
        <p14:creationId xmlns:p14="http://schemas.microsoft.com/office/powerpoint/2010/main" val="35802854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467544" y="659011"/>
            <a:ext cx="8424936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4000" dirty="0" smtClean="0">
                <a:solidFill>
                  <a:srgbClr val="92D050"/>
                </a:solidFill>
                <a:latin typeface="Times New Roman" pitchFamily="18" charset="0"/>
                <a:cs typeface="Times New Roman" pitchFamily="18" charset="0"/>
              </a:rPr>
              <a:t>Оптические датчики (камеры, </a:t>
            </a:r>
            <a:r>
              <a:rPr lang="ru-RU" sz="4000" dirty="0" err="1" smtClean="0">
                <a:solidFill>
                  <a:srgbClr val="92D050"/>
                </a:solidFill>
                <a:latin typeface="Times New Roman" pitchFamily="18" charset="0"/>
                <a:cs typeface="Times New Roman" pitchFamily="18" charset="0"/>
              </a:rPr>
              <a:t>лидары</a:t>
            </a:r>
            <a:r>
              <a:rPr lang="ru-RU" sz="4000" dirty="0" smtClean="0">
                <a:solidFill>
                  <a:srgbClr val="92D050"/>
                </a:solidFill>
                <a:latin typeface="Times New Roman" pitchFamily="18" charset="0"/>
                <a:cs typeface="Times New Roman" pitchFamily="18" charset="0"/>
              </a:rPr>
              <a:t>, оптический поток):</a:t>
            </a:r>
          </a:p>
          <a:p>
            <a:r>
              <a:rPr lang="ru-RU" sz="4000" dirty="0" smtClean="0">
                <a:latin typeface="Times New Roman" pitchFamily="18" charset="0"/>
                <a:cs typeface="Times New Roman" pitchFamily="18" charset="0"/>
              </a:rPr>
              <a:t>•</a:t>
            </a:r>
            <a:r>
              <a:rPr lang="ru-RU" sz="4000" dirty="0">
                <a:latin typeface="Times New Roman" pitchFamily="18" charset="0"/>
                <a:cs typeface="Times New Roman" pitchFamily="18" charset="0"/>
              </a:rPr>
              <a:t>	Туман, дымка, осадки, пыль: сильное рассеивание света, снижение дальности и контраста.</a:t>
            </a:r>
          </a:p>
          <a:p>
            <a:r>
              <a:rPr lang="ru-RU" sz="4000" dirty="0">
                <a:latin typeface="Times New Roman" pitchFamily="18" charset="0"/>
                <a:cs typeface="Times New Roman" pitchFamily="18" charset="0"/>
              </a:rPr>
              <a:t>•	Облачность и освещённость: перепады (день/ночь, тени).</a:t>
            </a:r>
          </a:p>
          <a:p>
            <a:r>
              <a:rPr lang="ru-RU" sz="4000" dirty="0" smtClean="0">
                <a:latin typeface="Times New Roman" pitchFamily="18" charset="0"/>
                <a:cs typeface="Times New Roman" pitchFamily="18" charset="0"/>
              </a:rPr>
              <a:t>•	Высокая влажность: запотевание линз.</a:t>
            </a:r>
            <a:endParaRPr lang="ru-RU" sz="40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38258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323528" y="509936"/>
            <a:ext cx="8640960" cy="62478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4000" dirty="0">
                <a:solidFill>
                  <a:srgbClr val="92D050"/>
                </a:solidFill>
                <a:latin typeface="Times New Roman" pitchFamily="18" charset="0"/>
                <a:cs typeface="Times New Roman" pitchFamily="18" charset="0"/>
              </a:rPr>
              <a:t>Инфракрасные (</a:t>
            </a:r>
            <a:r>
              <a:rPr lang="ru-RU" sz="4000" dirty="0" err="1">
                <a:solidFill>
                  <a:srgbClr val="92D050"/>
                </a:solidFill>
                <a:latin typeface="Times New Roman" pitchFamily="18" charset="0"/>
                <a:cs typeface="Times New Roman" pitchFamily="18" charset="0"/>
              </a:rPr>
              <a:t>тепловизоры</a:t>
            </a:r>
            <a:r>
              <a:rPr lang="ru-RU" sz="4000" dirty="0" smtClean="0">
                <a:solidFill>
                  <a:srgbClr val="92D050"/>
                </a:solidFill>
                <a:latin typeface="Times New Roman" pitchFamily="18" charset="0"/>
                <a:cs typeface="Times New Roman" pitchFamily="18" charset="0"/>
              </a:rPr>
              <a:t>):</a:t>
            </a:r>
          </a:p>
          <a:p>
            <a:pPr algn="ctr"/>
            <a:endParaRPr lang="ru-RU" sz="4000" dirty="0">
              <a:solidFill>
                <a:srgbClr val="92D050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ru-RU" sz="4000" dirty="0">
                <a:latin typeface="Times New Roman" pitchFamily="18" charset="0"/>
                <a:cs typeface="Times New Roman" pitchFamily="18" charset="0"/>
              </a:rPr>
              <a:t>•	Температурные инверсии и градиенты: искажение теплового сигнала.</a:t>
            </a:r>
          </a:p>
          <a:p>
            <a:r>
              <a:rPr lang="ru-RU" sz="4000" dirty="0">
                <a:latin typeface="Times New Roman" pitchFamily="18" charset="0"/>
                <a:cs typeface="Times New Roman" pitchFamily="18" charset="0"/>
              </a:rPr>
              <a:t>•	Влажность и осадки: поглощение ИК-излучения.</a:t>
            </a:r>
          </a:p>
          <a:p>
            <a:r>
              <a:rPr lang="ru-RU" sz="4000" dirty="0">
                <a:latin typeface="Times New Roman" pitchFamily="18" charset="0"/>
                <a:cs typeface="Times New Roman" pitchFamily="18" charset="0"/>
              </a:rPr>
              <a:t>•	Городской остров тепла: ложные тепловые сигнатуры.</a:t>
            </a:r>
          </a:p>
          <a:p>
            <a:r>
              <a:rPr lang="ru-RU" sz="4000" dirty="0">
                <a:latin typeface="Times New Roman" pitchFamily="18" charset="0"/>
                <a:cs typeface="Times New Roman" pitchFamily="18" charset="0"/>
              </a:rPr>
              <a:t>•	Пыль/дым: частичное ослабление.</a:t>
            </a:r>
          </a:p>
        </p:txBody>
      </p:sp>
    </p:spTree>
    <p:extLst>
      <p:ext uri="{BB962C8B-B14F-4D97-AF65-F5344CB8AC3E}">
        <p14:creationId xmlns:p14="http://schemas.microsoft.com/office/powerpoint/2010/main" val="4623182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-31846" y="476672"/>
            <a:ext cx="8784976" cy="61863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4400" dirty="0">
                <a:solidFill>
                  <a:srgbClr val="92D050"/>
                </a:solidFill>
                <a:latin typeface="Times New Roman" pitchFamily="18" charset="0"/>
                <a:cs typeface="Times New Roman" pitchFamily="18" charset="0"/>
              </a:rPr>
              <a:t>Общие рекомендации:</a:t>
            </a:r>
          </a:p>
          <a:p>
            <a:r>
              <a:rPr lang="ru-RU" sz="4400" dirty="0">
                <a:latin typeface="Times New Roman" pitchFamily="18" charset="0"/>
                <a:cs typeface="Times New Roman" pitchFamily="18" charset="0"/>
              </a:rPr>
              <a:t>•	Резервирование (ИНС + визуальная </a:t>
            </a:r>
            <a:r>
              <a:rPr lang="ru-RU" sz="4400" dirty="0" err="1">
                <a:latin typeface="Times New Roman" pitchFamily="18" charset="0"/>
                <a:cs typeface="Times New Roman" pitchFamily="18" charset="0"/>
              </a:rPr>
              <a:t>одометрия</a:t>
            </a:r>
            <a:r>
              <a:rPr lang="ru-RU" sz="4400" dirty="0">
                <a:latin typeface="Times New Roman" pitchFamily="18" charset="0"/>
                <a:cs typeface="Times New Roman" pitchFamily="18" charset="0"/>
              </a:rPr>
              <a:t> + </a:t>
            </a:r>
            <a:r>
              <a:rPr lang="ru-RU" sz="4400" dirty="0" err="1">
                <a:latin typeface="Times New Roman" pitchFamily="18" charset="0"/>
                <a:cs typeface="Times New Roman" pitchFamily="18" charset="0"/>
              </a:rPr>
              <a:t>барометрия</a:t>
            </a:r>
            <a:r>
              <a:rPr lang="ru-RU" sz="4400" dirty="0">
                <a:latin typeface="Times New Roman" pitchFamily="18" charset="0"/>
                <a:cs typeface="Times New Roman" pitchFamily="18" charset="0"/>
              </a:rPr>
              <a:t>).</a:t>
            </a:r>
          </a:p>
          <a:p>
            <a:r>
              <a:rPr lang="ru-RU" sz="4400" dirty="0">
                <a:latin typeface="Times New Roman" pitchFamily="18" charset="0"/>
                <a:cs typeface="Times New Roman" pitchFamily="18" charset="0"/>
              </a:rPr>
              <a:t>•	Предполётная калибровка и выбор времени полёта.</a:t>
            </a:r>
          </a:p>
          <a:p>
            <a:r>
              <a:rPr lang="ru-RU" sz="4400" dirty="0">
                <a:latin typeface="Times New Roman" pitchFamily="18" charset="0"/>
                <a:cs typeface="Times New Roman" pitchFamily="18" charset="0"/>
              </a:rPr>
              <a:t>•	Использование всепогодных сенсоров (радары) в дополнение к оптике.</a:t>
            </a:r>
          </a:p>
        </p:txBody>
      </p:sp>
    </p:spTree>
    <p:extLst>
      <p:ext uri="{BB962C8B-B14F-4D97-AF65-F5344CB8AC3E}">
        <p14:creationId xmlns:p14="http://schemas.microsoft.com/office/powerpoint/2010/main" val="2182385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251215" y="476672"/>
            <a:ext cx="8568952" cy="62478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4000" dirty="0" smtClean="0">
                <a:solidFill>
                  <a:srgbClr val="92D050"/>
                </a:solidFill>
                <a:latin typeface="Times New Roman" pitchFamily="18" charset="0"/>
                <a:cs typeface="Times New Roman" pitchFamily="18" charset="0"/>
              </a:rPr>
              <a:t>Вывод </a:t>
            </a:r>
            <a:r>
              <a:rPr lang="ru-RU" sz="4000" dirty="0">
                <a:solidFill>
                  <a:srgbClr val="92D050"/>
                </a:solidFill>
                <a:latin typeface="Times New Roman" pitchFamily="18" charset="0"/>
                <a:cs typeface="Times New Roman" pitchFamily="18" charset="0"/>
              </a:rPr>
              <a:t>по </a:t>
            </a:r>
            <a:r>
              <a:rPr lang="ru-RU" sz="4000" dirty="0" smtClean="0">
                <a:solidFill>
                  <a:srgbClr val="92D050"/>
                </a:solidFill>
                <a:latin typeface="Times New Roman" pitchFamily="18" charset="0"/>
                <a:cs typeface="Times New Roman" pitchFamily="18" charset="0"/>
              </a:rPr>
              <a:t>теме: </a:t>
            </a:r>
          </a:p>
          <a:p>
            <a:pPr algn="just"/>
            <a:r>
              <a:rPr lang="ru-RU" sz="4000" dirty="0" smtClean="0">
                <a:latin typeface="Times New Roman" pitchFamily="18" charset="0"/>
                <a:cs typeface="Times New Roman" pitchFamily="18" charset="0"/>
              </a:rPr>
              <a:t>	Метеорология </a:t>
            </a:r>
            <a:r>
              <a:rPr lang="ru-RU" sz="4000" dirty="0">
                <a:latin typeface="Times New Roman" pitchFamily="18" charset="0"/>
                <a:cs typeface="Times New Roman" pitchFamily="18" charset="0"/>
              </a:rPr>
              <a:t>для БПЛА требует </a:t>
            </a:r>
            <a:r>
              <a:rPr lang="ru-RU" sz="4000" dirty="0" err="1">
                <a:latin typeface="Times New Roman" pitchFamily="18" charset="0"/>
                <a:cs typeface="Times New Roman" pitchFamily="18" charset="0"/>
              </a:rPr>
              <a:t>гиперлокального</a:t>
            </a:r>
            <a:r>
              <a:rPr lang="ru-RU" sz="4000" dirty="0">
                <a:latin typeface="Times New Roman" pitchFamily="18" charset="0"/>
                <a:cs typeface="Times New Roman" pitchFamily="18" charset="0"/>
              </a:rPr>
              <a:t> подхода из-за операций на малых высотах и в сложной среде (город, помещения). </a:t>
            </a:r>
            <a:r>
              <a:rPr lang="ru-RU" sz="4000" dirty="0" smtClean="0">
                <a:latin typeface="Times New Roman" pitchFamily="18" charset="0"/>
                <a:cs typeface="Times New Roman" pitchFamily="18" charset="0"/>
              </a:rPr>
              <a:t>	Ключ </a:t>
            </a:r>
            <a:r>
              <a:rPr lang="ru-RU" sz="4000" dirty="0">
                <a:latin typeface="Times New Roman" pitchFamily="18" charset="0"/>
                <a:cs typeface="Times New Roman" pitchFamily="18" charset="0"/>
              </a:rPr>
              <a:t>к безопасности — интеграция реального времени метеоданных, адаптивные алгоритмы и </a:t>
            </a:r>
            <a:r>
              <a:rPr lang="ru-RU" sz="4000" dirty="0" err="1">
                <a:latin typeface="Times New Roman" pitchFamily="18" charset="0"/>
                <a:cs typeface="Times New Roman" pitchFamily="18" charset="0"/>
              </a:rPr>
              <a:t>многосенсорные</a:t>
            </a:r>
            <a:r>
              <a:rPr lang="ru-RU" sz="4000" dirty="0">
                <a:latin typeface="Times New Roman" pitchFamily="18" charset="0"/>
                <a:cs typeface="Times New Roman" pitchFamily="18" charset="0"/>
              </a:rPr>
              <a:t> системы навигации.</a:t>
            </a:r>
          </a:p>
        </p:txBody>
      </p:sp>
    </p:spTree>
    <p:extLst>
      <p:ext uri="{BB962C8B-B14F-4D97-AF65-F5344CB8AC3E}">
        <p14:creationId xmlns:p14="http://schemas.microsoft.com/office/powerpoint/2010/main" val="374757469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Бумажная">
  <a:themeElements>
    <a:clrScheme name="Бумажная">
      <a:dk1>
        <a:sysClr val="windowText" lastClr="000000"/>
      </a:dk1>
      <a:lt1>
        <a:sysClr val="window" lastClr="FFFFFF"/>
      </a:lt1>
      <a:dk2>
        <a:srgbClr val="444D26"/>
      </a:dk2>
      <a:lt2>
        <a:srgbClr val="FEFAC9"/>
      </a:lt2>
      <a:accent1>
        <a:srgbClr val="A5B592"/>
      </a:accent1>
      <a:accent2>
        <a:srgbClr val="F3A447"/>
      </a:accent2>
      <a:accent3>
        <a:srgbClr val="E7BC29"/>
      </a:accent3>
      <a:accent4>
        <a:srgbClr val="D092A7"/>
      </a:accent4>
      <a:accent5>
        <a:srgbClr val="9C85C0"/>
      </a:accent5>
      <a:accent6>
        <a:srgbClr val="809EC2"/>
      </a:accent6>
      <a:hlink>
        <a:srgbClr val="8E58B6"/>
      </a:hlink>
      <a:folHlink>
        <a:srgbClr val="7F6F6F"/>
      </a:folHlink>
    </a:clrScheme>
    <a:fontScheme name="Бумажная">
      <a:majorFont>
        <a:latin typeface="Constantia"/>
        <a:ea typeface=""/>
        <a:cs typeface=""/>
        <a:font script="Jpan" typeface="HG明朝E"/>
        <a:font script="Hang" typeface="궁서"/>
        <a:font script="Hans" typeface="华文新魏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onstantia"/>
        <a:ea typeface=""/>
        <a:cs typeface=""/>
        <a:font script="Jpan" typeface="HG明朝E"/>
        <a:font script="Hang" typeface="궁서"/>
        <a:font script="Hans" typeface="华文新魏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Бумажная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63000"/>
                <a:tint val="82000"/>
              </a:schemeClr>
              <a:schemeClr val="phClr">
                <a:tint val="10000"/>
                <a:satMod val="400000"/>
              </a:schemeClr>
            </a:duotone>
          </a:blip>
          <a:tile tx="0" ty="0" sx="40000" sy="40000" flip="none" algn="tl"/>
        </a:blipFill>
        <a:blipFill>
          <a:blip xmlns:r="http://schemas.openxmlformats.org/officeDocument/2006/relationships" r:embed="rId1">
            <a:duotone>
              <a:schemeClr val="phClr">
                <a:shade val="40000"/>
              </a:schemeClr>
              <a:schemeClr val="phClr">
                <a:tint val="42000"/>
              </a:schemeClr>
            </a:duotone>
          </a:blip>
          <a:tile tx="0" ty="0" sx="40000" sy="40000" flip="none" algn="tl"/>
        </a:blipFill>
      </a:fillStyleLst>
      <a:lnStyleLst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635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95000" rotWithShape="0">
              <a:srgbClr val="000000">
                <a:alpha val="50000"/>
              </a:srgbClr>
            </a:outerShdw>
            <a:softEdge rad="12700"/>
          </a:effectLst>
        </a:effectStyle>
        <a:effectStyle>
          <a:effectLst>
            <a:outerShdw blurRad="95000" rotWithShape="0">
              <a:srgbClr val="000000">
                <a:alpha val="50000"/>
              </a:srgbClr>
            </a:outerShdw>
            <a:softEdge rad="12700"/>
          </a:effectLst>
        </a:effectStyle>
        <a:effectStyle>
          <a:effectLst>
            <a:outerShdw blurRad="95000" algn="tl" rotWithShape="0">
              <a:srgbClr val="000000">
                <a:alpha val="50000"/>
              </a:srgbClr>
            </a:outerShdw>
          </a:effectLst>
          <a:scene3d>
            <a:camera prst="orthographicFront"/>
            <a:lightRig rig="soft" dir="t">
              <a:rot lat="0" lon="0" rev="18000000"/>
            </a:lightRig>
          </a:scene3d>
          <a:sp3d prstMaterial="dkEdge">
            <a:bevelT w="73660" h="44450" prst="riblet"/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55000"/>
                <a:alpha val="20000"/>
              </a:schemeClr>
              <a:schemeClr val="phClr">
                <a:tint val="40000"/>
                <a:shade val="90000"/>
                <a:satMod val="60000"/>
                <a:alpha val="20000"/>
              </a:schemeClr>
            </a:duotone>
          </a:blip>
          <a:tile tx="0" ty="0" sx="58000" sy="38000" flip="none" algn="tl"/>
        </a:blipFill>
        <a:blipFill>
          <a:blip xmlns:r="http://schemas.openxmlformats.org/officeDocument/2006/relationships" r:embed="rId2">
            <a:duotone>
              <a:schemeClr val="phClr">
                <a:shade val="12000"/>
                <a:satMod val="240000"/>
              </a:schemeClr>
              <a:schemeClr val="phClr">
                <a:tint val="65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Paper</Template>
  <TotalTime>29</TotalTime>
  <Words>180</Words>
  <Application>Microsoft Office PowerPoint</Application>
  <PresentationFormat>Экран (4:3)</PresentationFormat>
  <Paragraphs>68</Paragraphs>
  <Slides>13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4" baseType="lpstr">
      <vt:lpstr>Бумажная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LaptopLTE</dc:creator>
  <cp:lastModifiedBy>1</cp:lastModifiedBy>
  <cp:revision>5</cp:revision>
  <dcterms:created xsi:type="dcterms:W3CDTF">2026-07-09T14:40:33Z</dcterms:created>
  <dcterms:modified xsi:type="dcterms:W3CDTF">2026-07-13T11:12:12Z</dcterms:modified>
</cp:coreProperties>
</file>