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04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4C71EC6-210F-42DE-9C53-41977AD35B3D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83568" y="692696"/>
            <a:ext cx="78488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>
                <a:solidFill>
                  <a:srgbClr val="FFFF00"/>
                </a:solidFill>
              </a:rPr>
              <a:t>Тема </a:t>
            </a:r>
            <a:r>
              <a:rPr lang="ru-RU" sz="4000" dirty="0">
                <a:solidFill>
                  <a:srgbClr val="FFFF00"/>
                </a:solidFill>
              </a:rPr>
              <a:t>2. Атмосферные явления и их влияние на </a:t>
            </a:r>
            <a:r>
              <a:rPr lang="ru-RU" sz="4000" dirty="0" smtClean="0">
                <a:solidFill>
                  <a:srgbClr val="FFFF00"/>
                </a:solidFill>
              </a:rPr>
              <a:t>БПЛА</a:t>
            </a:r>
          </a:p>
          <a:p>
            <a:pPr algn="ctr"/>
            <a:endParaRPr lang="ru-RU" sz="4000" dirty="0"/>
          </a:p>
          <a:p>
            <a:pPr algn="ctr"/>
            <a:endParaRPr lang="ru-RU" sz="4000" dirty="0" smtClean="0"/>
          </a:p>
          <a:p>
            <a:pPr algn="ctr"/>
            <a:endParaRPr lang="ru-RU" sz="4000" dirty="0" smtClean="0"/>
          </a:p>
          <a:p>
            <a:pPr algn="ctr"/>
            <a:endParaRPr lang="ru-RU" sz="4000" dirty="0"/>
          </a:p>
          <a:p>
            <a:pPr algn="ctr"/>
            <a:r>
              <a:rPr lang="ru-RU" sz="4000" dirty="0" smtClean="0">
                <a:solidFill>
                  <a:srgbClr val="92D050"/>
                </a:solidFill>
              </a:rPr>
              <a:t>1. </a:t>
            </a:r>
            <a:r>
              <a:rPr lang="ru-RU" sz="4000" dirty="0">
                <a:solidFill>
                  <a:srgbClr val="92D050"/>
                </a:solidFill>
              </a:rPr>
              <a:t>Облачность и виды облаков. Влияние на видимость и работу оптических датчиков</a:t>
            </a:r>
          </a:p>
        </p:txBody>
      </p:sp>
    </p:spTree>
    <p:extLst>
      <p:ext uri="{BB962C8B-B14F-4D97-AF65-F5344CB8AC3E}">
        <p14:creationId xmlns:p14="http://schemas.microsoft.com/office/powerpoint/2010/main" val="415624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40172"/>
            <a:ext cx="903649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rgbClr val="92D050"/>
                </a:solidFill>
              </a:rPr>
              <a:t>Классификация облаков (по ВМО):</a:t>
            </a:r>
          </a:p>
          <a:p>
            <a:pPr algn="just"/>
            <a:r>
              <a:rPr lang="ru-RU" sz="3200" dirty="0" smtClean="0">
                <a:solidFill>
                  <a:srgbClr val="00B0F0"/>
                </a:solidFill>
              </a:rPr>
              <a:t>•</a:t>
            </a:r>
            <a:r>
              <a:rPr lang="ru-RU" sz="3200" b="1" dirty="0" smtClean="0">
                <a:solidFill>
                  <a:srgbClr val="00B0F0"/>
                </a:solidFill>
              </a:rPr>
              <a:t>Высокие</a:t>
            </a:r>
            <a:r>
              <a:rPr lang="ru-RU" sz="3200" dirty="0" smtClean="0">
                <a:solidFill>
                  <a:srgbClr val="00B0F0"/>
                </a:solidFill>
              </a:rPr>
              <a:t> </a:t>
            </a:r>
            <a:r>
              <a:rPr lang="ru-RU" sz="3200" dirty="0">
                <a:solidFill>
                  <a:srgbClr val="00B0F0"/>
                </a:solidFill>
              </a:rPr>
              <a:t>(</a:t>
            </a:r>
            <a:r>
              <a:rPr lang="ru-RU" sz="3200" dirty="0" err="1">
                <a:solidFill>
                  <a:srgbClr val="00B0F0"/>
                </a:solidFill>
              </a:rPr>
              <a:t>циррус</a:t>
            </a:r>
            <a:r>
              <a:rPr lang="ru-RU" sz="3200" dirty="0">
                <a:solidFill>
                  <a:srgbClr val="00B0F0"/>
                </a:solidFill>
              </a:rPr>
              <a:t>, </a:t>
            </a:r>
            <a:r>
              <a:rPr lang="ru-RU" sz="3200" dirty="0" err="1">
                <a:solidFill>
                  <a:srgbClr val="00B0F0"/>
                </a:solidFill>
              </a:rPr>
              <a:t>циростратус</a:t>
            </a:r>
            <a:r>
              <a:rPr lang="ru-RU" sz="3200" dirty="0">
                <a:solidFill>
                  <a:srgbClr val="00B0F0"/>
                </a:solidFill>
              </a:rPr>
              <a:t>, </a:t>
            </a:r>
            <a:r>
              <a:rPr lang="ru-RU" sz="3200" dirty="0" err="1">
                <a:solidFill>
                  <a:srgbClr val="00B0F0"/>
                </a:solidFill>
              </a:rPr>
              <a:t>цирокумулюс</a:t>
            </a:r>
            <a:r>
              <a:rPr lang="ru-RU" sz="3200" dirty="0">
                <a:solidFill>
                  <a:srgbClr val="00B0F0"/>
                </a:solidFill>
              </a:rPr>
              <a:t>) — перистые, тонкие, на высоте &gt;6 км. Мало влияют на видимость, но могут сигнализировать о приближении фронтов.</a:t>
            </a:r>
          </a:p>
          <a:p>
            <a:pPr algn="just"/>
            <a:r>
              <a:rPr lang="ru-RU" sz="3200" dirty="0" smtClean="0">
                <a:solidFill>
                  <a:srgbClr val="00B0F0"/>
                </a:solidFill>
              </a:rPr>
              <a:t>•</a:t>
            </a:r>
            <a:r>
              <a:rPr lang="ru-RU" sz="3200" b="1" dirty="0" smtClean="0">
                <a:solidFill>
                  <a:srgbClr val="00B0F0"/>
                </a:solidFill>
              </a:rPr>
              <a:t>Средние</a:t>
            </a:r>
            <a:r>
              <a:rPr lang="ru-RU" sz="3200" dirty="0" smtClean="0">
                <a:solidFill>
                  <a:srgbClr val="00B0F0"/>
                </a:solidFill>
              </a:rPr>
              <a:t> </a:t>
            </a:r>
            <a:r>
              <a:rPr lang="ru-RU" sz="3200" dirty="0">
                <a:solidFill>
                  <a:srgbClr val="00B0F0"/>
                </a:solidFill>
              </a:rPr>
              <a:t>(</a:t>
            </a:r>
            <a:r>
              <a:rPr lang="ru-RU" sz="3200" dirty="0" err="1">
                <a:solidFill>
                  <a:srgbClr val="00B0F0"/>
                </a:solidFill>
              </a:rPr>
              <a:t>альтостратус</a:t>
            </a:r>
            <a:r>
              <a:rPr lang="ru-RU" sz="3200" dirty="0">
                <a:solidFill>
                  <a:srgbClr val="00B0F0"/>
                </a:solidFill>
              </a:rPr>
              <a:t>, </a:t>
            </a:r>
            <a:r>
              <a:rPr lang="ru-RU" sz="3200" dirty="0" err="1">
                <a:solidFill>
                  <a:srgbClr val="00B0F0"/>
                </a:solidFill>
              </a:rPr>
              <a:t>альтокумулюс</a:t>
            </a:r>
            <a:r>
              <a:rPr lang="ru-RU" sz="3200" dirty="0">
                <a:solidFill>
                  <a:srgbClr val="00B0F0"/>
                </a:solidFill>
              </a:rPr>
              <a:t>) — 2–6 км.</a:t>
            </a:r>
          </a:p>
          <a:p>
            <a:pPr algn="just"/>
            <a:r>
              <a:rPr lang="ru-RU" sz="3200" b="1" dirty="0" smtClean="0">
                <a:solidFill>
                  <a:srgbClr val="00B0F0"/>
                </a:solidFill>
              </a:rPr>
              <a:t>•Низкие </a:t>
            </a:r>
            <a:r>
              <a:rPr lang="ru-RU" sz="3200" dirty="0">
                <a:solidFill>
                  <a:srgbClr val="00B0F0"/>
                </a:solidFill>
              </a:rPr>
              <a:t>(</a:t>
            </a:r>
            <a:r>
              <a:rPr lang="ru-RU" sz="3200" dirty="0" err="1">
                <a:solidFill>
                  <a:srgbClr val="00B0F0"/>
                </a:solidFill>
              </a:rPr>
              <a:t>стратус</a:t>
            </a:r>
            <a:r>
              <a:rPr lang="ru-RU" sz="3200" dirty="0">
                <a:solidFill>
                  <a:srgbClr val="00B0F0"/>
                </a:solidFill>
              </a:rPr>
              <a:t>, </a:t>
            </a:r>
            <a:r>
              <a:rPr lang="ru-RU" sz="3200" dirty="0" err="1">
                <a:solidFill>
                  <a:srgbClr val="00B0F0"/>
                </a:solidFill>
              </a:rPr>
              <a:t>стратокумулюс</a:t>
            </a:r>
            <a:r>
              <a:rPr lang="ru-RU" sz="3200" dirty="0">
                <a:solidFill>
                  <a:srgbClr val="00B0F0"/>
                </a:solidFill>
              </a:rPr>
              <a:t>, </a:t>
            </a:r>
            <a:r>
              <a:rPr lang="ru-RU" sz="3200" dirty="0" err="1">
                <a:solidFill>
                  <a:srgbClr val="00B0F0"/>
                </a:solidFill>
              </a:rPr>
              <a:t>нимбостратус</a:t>
            </a:r>
            <a:r>
              <a:rPr lang="ru-RU" sz="3200" dirty="0">
                <a:solidFill>
                  <a:srgbClr val="00B0F0"/>
                </a:solidFill>
              </a:rPr>
              <a:t>) — до 2 км, часто вызывают обложные осадки и плохую видимость.</a:t>
            </a:r>
          </a:p>
          <a:p>
            <a:pPr algn="just"/>
            <a:r>
              <a:rPr lang="ru-RU" sz="3200" dirty="0" smtClean="0">
                <a:solidFill>
                  <a:srgbClr val="00B0F0"/>
                </a:solidFill>
              </a:rPr>
              <a:t>•</a:t>
            </a:r>
            <a:r>
              <a:rPr lang="ru-RU" sz="3200" b="1" dirty="0" smtClean="0">
                <a:solidFill>
                  <a:srgbClr val="00B0F0"/>
                </a:solidFill>
              </a:rPr>
              <a:t>Вертикального </a:t>
            </a:r>
            <a:r>
              <a:rPr lang="ru-RU" sz="3200" b="1" dirty="0">
                <a:solidFill>
                  <a:srgbClr val="00B0F0"/>
                </a:solidFill>
              </a:rPr>
              <a:t>развития </a:t>
            </a:r>
            <a:r>
              <a:rPr lang="ru-RU" sz="3200" dirty="0">
                <a:solidFill>
                  <a:srgbClr val="00B0F0"/>
                </a:solidFill>
              </a:rPr>
              <a:t>(</a:t>
            </a:r>
            <a:r>
              <a:rPr lang="ru-RU" sz="3200" dirty="0" err="1">
                <a:solidFill>
                  <a:srgbClr val="00B0F0"/>
                </a:solidFill>
              </a:rPr>
              <a:t>кумулюс</a:t>
            </a:r>
            <a:r>
              <a:rPr lang="ru-RU" sz="3200" dirty="0">
                <a:solidFill>
                  <a:srgbClr val="00B0F0"/>
                </a:solidFill>
              </a:rPr>
              <a:t>, </a:t>
            </a:r>
            <a:r>
              <a:rPr lang="ru-RU" sz="3200" dirty="0" err="1">
                <a:solidFill>
                  <a:srgbClr val="00B0F0"/>
                </a:solidFill>
              </a:rPr>
              <a:t>кумулонимбус</a:t>
            </a:r>
            <a:r>
              <a:rPr lang="ru-RU" sz="3200" dirty="0">
                <a:solidFill>
                  <a:srgbClr val="00B0F0"/>
                </a:solidFill>
              </a:rPr>
              <a:t>) — мощные, с турбулентностью, грозами и сильными восходящими/нисходящими потоками.</a:t>
            </a:r>
          </a:p>
        </p:txBody>
      </p:sp>
    </p:spTree>
    <p:extLst>
      <p:ext uri="{BB962C8B-B14F-4D97-AF65-F5344CB8AC3E}">
        <p14:creationId xmlns:p14="http://schemas.microsoft.com/office/powerpoint/2010/main" val="237136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60648"/>
            <a:ext cx="903649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92D050"/>
                </a:solidFill>
              </a:rPr>
              <a:t>Влияние на БПЛА</a:t>
            </a:r>
            <a:r>
              <a:rPr lang="ru-RU" sz="2800" dirty="0" smtClean="0">
                <a:solidFill>
                  <a:srgbClr val="92D050"/>
                </a:solidFill>
              </a:rPr>
              <a:t>:</a:t>
            </a:r>
          </a:p>
          <a:p>
            <a:pPr algn="ctr"/>
            <a:endParaRPr lang="ru-RU" sz="2800" dirty="0"/>
          </a:p>
          <a:p>
            <a:pPr algn="just">
              <a:tabLst>
                <a:tab pos="261938" algn="l"/>
              </a:tabLst>
            </a:pPr>
            <a:r>
              <a:rPr lang="ru-RU" sz="2800" dirty="0">
                <a:solidFill>
                  <a:srgbClr val="00B0F0"/>
                </a:solidFill>
              </a:rPr>
              <a:t>•	Снижение видимости (особенно низкая облачность и туман внутри облаков).</a:t>
            </a:r>
          </a:p>
          <a:p>
            <a:pPr algn="just">
              <a:tabLst>
                <a:tab pos="261938" algn="l"/>
              </a:tabLst>
            </a:pPr>
            <a:r>
              <a:rPr lang="ru-RU" sz="2800" dirty="0">
                <a:solidFill>
                  <a:srgbClr val="00B0F0"/>
                </a:solidFill>
              </a:rPr>
              <a:t>•	Ухудшение работы оптических и ИК-датчиков (камеры, </a:t>
            </a:r>
            <a:r>
              <a:rPr lang="ru-RU" sz="2800" dirty="0" err="1">
                <a:solidFill>
                  <a:srgbClr val="00B0F0"/>
                </a:solidFill>
              </a:rPr>
              <a:t>тепловизоры</a:t>
            </a:r>
            <a:r>
              <a:rPr lang="ru-RU" sz="2800" dirty="0">
                <a:solidFill>
                  <a:srgbClr val="00B0F0"/>
                </a:solidFill>
              </a:rPr>
              <a:t>) — рассеивание света, потеря контраста, "ослепление".</a:t>
            </a:r>
          </a:p>
          <a:p>
            <a:pPr algn="just">
              <a:tabLst>
                <a:tab pos="261938" algn="l"/>
              </a:tabLst>
            </a:pPr>
            <a:r>
              <a:rPr lang="ru-RU" sz="2800" dirty="0">
                <a:solidFill>
                  <a:srgbClr val="00B0F0"/>
                </a:solidFill>
              </a:rPr>
              <a:t>•	Турбулентность и тряска внутри кучевых/грозовых облаков.</a:t>
            </a:r>
          </a:p>
          <a:p>
            <a:pPr algn="just">
              <a:tabLst>
                <a:tab pos="261938" algn="l"/>
              </a:tabLst>
            </a:pPr>
            <a:r>
              <a:rPr lang="ru-RU" sz="2800" dirty="0">
                <a:solidFill>
                  <a:srgbClr val="00B0F0"/>
                </a:solidFill>
              </a:rPr>
              <a:t>•	Ухудшение связи (поглощение радиосигнала).</a:t>
            </a:r>
          </a:p>
          <a:p>
            <a:pPr algn="just">
              <a:tabLst>
                <a:tab pos="261938" algn="l"/>
              </a:tabLst>
            </a:pPr>
            <a:r>
              <a:rPr lang="ru-RU" sz="2800" dirty="0">
                <a:solidFill>
                  <a:srgbClr val="00B0F0"/>
                </a:solidFill>
              </a:rPr>
              <a:t>•	Риск обледенения в переохлаждённых облаках</a:t>
            </a:r>
            <a:r>
              <a:rPr lang="ru-RU" sz="2800" dirty="0" smtClean="0">
                <a:solidFill>
                  <a:srgbClr val="00B0F0"/>
                </a:solidFill>
              </a:rPr>
              <a:t>.</a:t>
            </a:r>
          </a:p>
          <a:p>
            <a:pPr algn="just">
              <a:tabLst>
                <a:tab pos="261938" algn="l"/>
              </a:tabLst>
            </a:pPr>
            <a:endParaRPr lang="ru-RU" sz="2800" dirty="0">
              <a:solidFill>
                <a:srgbClr val="00B0F0"/>
              </a:solidFill>
            </a:endParaRPr>
          </a:p>
          <a:p>
            <a:pPr algn="just">
              <a:tabLst>
                <a:tab pos="261938" algn="l"/>
              </a:tabLst>
            </a:pPr>
            <a:endParaRPr lang="ru-RU" sz="2800" dirty="0">
              <a:solidFill>
                <a:srgbClr val="00B0F0"/>
              </a:solidFill>
            </a:endParaRPr>
          </a:p>
          <a:p>
            <a:pPr algn="just">
              <a:tabLst>
                <a:tab pos="261938" algn="l"/>
              </a:tabLst>
            </a:pPr>
            <a:r>
              <a:rPr lang="ru-RU" sz="2800" dirty="0">
                <a:solidFill>
                  <a:srgbClr val="FFFF00"/>
                </a:solidFill>
              </a:rPr>
              <a:t>Рекомендация:</a:t>
            </a:r>
            <a:r>
              <a:rPr lang="ru-RU" sz="2800" dirty="0">
                <a:solidFill>
                  <a:srgbClr val="00B0F0"/>
                </a:solidFill>
              </a:rPr>
              <a:t> избегать полётов в/через плотную облачность, особенно </a:t>
            </a:r>
            <a:r>
              <a:rPr lang="ru-RU" sz="2800" dirty="0" err="1">
                <a:solidFill>
                  <a:srgbClr val="00B0F0"/>
                </a:solidFill>
              </a:rPr>
              <a:t>кумулонимбус</a:t>
            </a:r>
            <a:r>
              <a:rPr lang="ru-RU" sz="280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234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718" y="188640"/>
            <a:ext cx="903649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92D050"/>
                </a:solidFill>
              </a:rPr>
              <a:t>2. Осадки </a:t>
            </a:r>
            <a:r>
              <a:rPr lang="ru-RU" sz="2800" b="1" dirty="0">
                <a:solidFill>
                  <a:srgbClr val="92D050"/>
                </a:solidFill>
              </a:rPr>
              <a:t>(дождь, снег, град) и их воздействие на аэродинамику и датчики БПЛА</a:t>
            </a:r>
          </a:p>
          <a:p>
            <a:pPr algn="just"/>
            <a:r>
              <a:rPr lang="ru-RU" sz="2800" dirty="0" smtClean="0"/>
              <a:t>	</a:t>
            </a:r>
          </a:p>
          <a:p>
            <a:pPr algn="just"/>
            <a:r>
              <a:rPr lang="ru-RU" sz="2800" dirty="0" smtClean="0">
                <a:solidFill>
                  <a:srgbClr val="FFFF00"/>
                </a:solidFill>
              </a:rPr>
              <a:t>Осадки </a:t>
            </a:r>
            <a:r>
              <a:rPr lang="ru-RU" sz="2800" dirty="0"/>
              <a:t>— </a:t>
            </a:r>
            <a:r>
              <a:rPr lang="ru-RU" sz="2800" dirty="0">
                <a:solidFill>
                  <a:srgbClr val="00B0F0"/>
                </a:solidFill>
              </a:rPr>
              <a:t>одна из главных причин отказа миссий БПЛА.</a:t>
            </a:r>
          </a:p>
          <a:p>
            <a:pPr algn="just"/>
            <a:r>
              <a:rPr lang="ru-RU" sz="2800" dirty="0"/>
              <a:t>•	</a:t>
            </a:r>
            <a:r>
              <a:rPr lang="ru-RU" sz="2800" dirty="0">
                <a:solidFill>
                  <a:srgbClr val="FFFF00"/>
                </a:solidFill>
              </a:rPr>
              <a:t>Дождь: </a:t>
            </a:r>
            <a:r>
              <a:rPr lang="ru-RU" sz="2800" dirty="0">
                <a:solidFill>
                  <a:srgbClr val="00B0F0"/>
                </a:solidFill>
              </a:rPr>
              <a:t>Намокание двигателей, электроники и датчиков (короткие замыкания, остановка моторов). Увеличение веса, ухудшение аэродинамики (нарушение обтекания). Снижение видимости и качества изображений.</a:t>
            </a:r>
          </a:p>
          <a:p>
            <a:pPr algn="just"/>
            <a:r>
              <a:rPr lang="ru-RU" sz="2800" dirty="0"/>
              <a:t>•	</a:t>
            </a:r>
            <a:r>
              <a:rPr lang="ru-RU" sz="2800" dirty="0">
                <a:solidFill>
                  <a:srgbClr val="FFFF00"/>
                </a:solidFill>
              </a:rPr>
              <a:t>Снег: </a:t>
            </a:r>
            <a:r>
              <a:rPr lang="ru-RU" sz="2800" dirty="0">
                <a:solidFill>
                  <a:srgbClr val="00B0F0"/>
                </a:solidFill>
              </a:rPr>
              <a:t>Налипание на винты/крылья (нарушение аэродинамики, дисбаланс), обледенение, снижение тяги. Сильнее влияет на </a:t>
            </a:r>
            <a:r>
              <a:rPr lang="ru-RU" sz="2800" dirty="0" err="1">
                <a:solidFill>
                  <a:srgbClr val="00B0F0"/>
                </a:solidFill>
              </a:rPr>
              <a:t>мультикоптеры</a:t>
            </a:r>
            <a:r>
              <a:rPr lang="ru-RU" sz="2800" dirty="0"/>
              <a:t>.</a:t>
            </a:r>
          </a:p>
          <a:p>
            <a:pPr algn="just"/>
            <a:r>
              <a:rPr lang="ru-RU" sz="2800" dirty="0"/>
              <a:t>•	</a:t>
            </a:r>
            <a:r>
              <a:rPr lang="ru-RU" sz="2800" dirty="0">
                <a:solidFill>
                  <a:srgbClr val="FFFF00"/>
                </a:solidFill>
              </a:rPr>
              <a:t>Град: </a:t>
            </a:r>
            <a:r>
              <a:rPr lang="ru-RU" sz="2800" dirty="0">
                <a:solidFill>
                  <a:srgbClr val="00B0F0"/>
                </a:solidFill>
              </a:rPr>
              <a:t>Механические повреждения корпуса, пропеллеров, антенн, датчиков.</a:t>
            </a:r>
          </a:p>
        </p:txBody>
      </p:sp>
    </p:spTree>
    <p:extLst>
      <p:ext uri="{BB962C8B-B14F-4D97-AF65-F5344CB8AC3E}">
        <p14:creationId xmlns:p14="http://schemas.microsoft.com/office/powerpoint/2010/main" val="1498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5029" y="119225"/>
            <a:ext cx="871296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92D050"/>
                </a:solidFill>
              </a:rPr>
              <a:t>Общее влияние:</a:t>
            </a:r>
          </a:p>
          <a:p>
            <a:pPr algn="just"/>
            <a:r>
              <a:rPr lang="ru-RU" sz="3600" dirty="0">
                <a:solidFill>
                  <a:srgbClr val="00B0F0"/>
                </a:solidFill>
              </a:rPr>
              <a:t>•	Увеличение энергопотребления и снижение времени полёта.</a:t>
            </a:r>
          </a:p>
          <a:p>
            <a:pPr algn="just"/>
            <a:r>
              <a:rPr lang="ru-RU" sz="3600" dirty="0">
                <a:solidFill>
                  <a:srgbClr val="00B0F0"/>
                </a:solidFill>
              </a:rPr>
              <a:t>•	Потеря стабильности и управляемости.</a:t>
            </a:r>
          </a:p>
          <a:p>
            <a:pPr algn="just"/>
            <a:r>
              <a:rPr lang="ru-RU" sz="3600" dirty="0">
                <a:solidFill>
                  <a:srgbClr val="00B0F0"/>
                </a:solidFill>
              </a:rPr>
              <a:t>•	Выход из строя оптических/</a:t>
            </a:r>
            <a:r>
              <a:rPr lang="ru-RU" sz="3600" dirty="0" err="1">
                <a:solidFill>
                  <a:srgbClr val="00B0F0"/>
                </a:solidFill>
              </a:rPr>
              <a:t>лидарных</a:t>
            </a:r>
            <a:r>
              <a:rPr lang="ru-RU" sz="3600" dirty="0">
                <a:solidFill>
                  <a:srgbClr val="00B0F0"/>
                </a:solidFill>
              </a:rPr>
              <a:t> датчиков. Многие лёгкие БПЛА ограничены или запрещены к полётам в осадках; тяжёлые/специализированные модели выдерживают умеренный дождь.</a:t>
            </a:r>
          </a:p>
        </p:txBody>
      </p:sp>
    </p:spTree>
    <p:extLst>
      <p:ext uri="{BB962C8B-B14F-4D97-AF65-F5344CB8AC3E}">
        <p14:creationId xmlns:p14="http://schemas.microsoft.com/office/powerpoint/2010/main" val="2869995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8701" y="289679"/>
            <a:ext cx="871296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Турбулентность: механическая и термическая. </a:t>
            </a:r>
            <a:endParaRPr lang="ru-RU" sz="3200" dirty="0" smtClean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Влияние </a:t>
            </a:r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на стабильность полёта</a:t>
            </a:r>
          </a:p>
          <a:p>
            <a:pPr algn="just"/>
            <a:r>
              <a:rPr lang="ru-RU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Механическая (орографическая) турбулентность </a:t>
            </a:r>
            <a:r>
              <a:rPr lang="ru-RU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— возникает при обтекании препятствий (холмы, здания, леса) сильным ветром. Характерна приземным слоем.</a:t>
            </a:r>
          </a:p>
          <a:p>
            <a:pPr algn="just"/>
            <a:r>
              <a:rPr lang="ru-RU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Термическая (конвективная) турбулентность </a:t>
            </a:r>
            <a:r>
              <a:rPr lang="ru-RU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— вызвана неравномерным нагревом поверхности (днём над сушей). Приводит к восходящим/нисходящим потокам, особенно в кучевых облаках.</a:t>
            </a:r>
          </a:p>
        </p:txBody>
      </p:sp>
    </p:spTree>
    <p:extLst>
      <p:ext uri="{BB962C8B-B14F-4D97-AF65-F5344CB8AC3E}">
        <p14:creationId xmlns:p14="http://schemas.microsoft.com/office/powerpoint/2010/main" val="131029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470" y="116632"/>
            <a:ext cx="878497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92D050"/>
                </a:solidFill>
              </a:rPr>
              <a:t>Влияние на БПЛА</a:t>
            </a:r>
            <a:r>
              <a:rPr lang="ru-RU" sz="2800" dirty="0" smtClean="0">
                <a:solidFill>
                  <a:srgbClr val="92D050"/>
                </a:solidFill>
              </a:rPr>
              <a:t>:</a:t>
            </a:r>
          </a:p>
          <a:p>
            <a:pPr algn="ctr"/>
            <a:endParaRPr lang="ru-RU" sz="2800" dirty="0"/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•Колебания</a:t>
            </a:r>
            <a:r>
              <a:rPr lang="ru-RU" sz="2800" dirty="0">
                <a:solidFill>
                  <a:srgbClr val="00B0F0"/>
                </a:solidFill>
              </a:rPr>
              <a:t>, броски, потеря высоты/скорости.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•Снижение </a:t>
            </a:r>
            <a:r>
              <a:rPr lang="ru-RU" sz="2800" dirty="0">
                <a:solidFill>
                  <a:srgbClr val="00B0F0"/>
                </a:solidFill>
              </a:rPr>
              <a:t>точности позиционирования и стабилизации (особенно для лёгких </a:t>
            </a:r>
            <a:r>
              <a:rPr lang="ru-RU" sz="2800" dirty="0" err="1">
                <a:solidFill>
                  <a:srgbClr val="00B0F0"/>
                </a:solidFill>
              </a:rPr>
              <a:t>квадрокоптеров</a:t>
            </a:r>
            <a:r>
              <a:rPr lang="ru-RU" sz="2800" dirty="0">
                <a:solidFill>
                  <a:srgbClr val="00B0F0"/>
                </a:solidFill>
              </a:rPr>
              <a:t>).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•Увеличение </a:t>
            </a:r>
            <a:r>
              <a:rPr lang="ru-RU" sz="2800" dirty="0">
                <a:solidFill>
                  <a:srgbClr val="00B0F0"/>
                </a:solidFill>
              </a:rPr>
              <a:t>нагрузки на автопилот и двигатели.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•Риск </a:t>
            </a:r>
            <a:r>
              <a:rPr lang="ru-RU" sz="2800" dirty="0">
                <a:solidFill>
                  <a:srgbClr val="00B0F0"/>
                </a:solidFill>
              </a:rPr>
              <a:t>структурных повреждений при сильной турбулентности</a:t>
            </a:r>
            <a:r>
              <a:rPr lang="ru-RU" sz="2800" dirty="0" smtClean="0">
                <a:solidFill>
                  <a:srgbClr val="00B0F0"/>
                </a:solidFill>
              </a:rPr>
              <a:t>.</a:t>
            </a:r>
          </a:p>
          <a:p>
            <a:pPr algn="just"/>
            <a:endParaRPr lang="ru-RU" sz="2800" dirty="0">
              <a:solidFill>
                <a:srgbClr val="00B0F0"/>
              </a:solidFill>
            </a:endParaRPr>
          </a:p>
          <a:p>
            <a:pPr algn="just"/>
            <a:r>
              <a:rPr lang="ru-RU" sz="2800" dirty="0" smtClean="0"/>
              <a:t>	</a:t>
            </a:r>
            <a:r>
              <a:rPr lang="ru-RU" sz="2800" dirty="0" smtClean="0">
                <a:solidFill>
                  <a:srgbClr val="FFFF00"/>
                </a:solidFill>
              </a:rPr>
              <a:t>Малые </a:t>
            </a:r>
            <a:r>
              <a:rPr lang="ru-RU" sz="2800" dirty="0">
                <a:solidFill>
                  <a:srgbClr val="FFFF00"/>
                </a:solidFill>
              </a:rPr>
              <a:t>БПЛА чувствительнее, чем пилотируемая авиация. Мониторинг через метеоданные и избегание полётов вблизи фронтов/рельефа помогает снизить риски.</a:t>
            </a:r>
          </a:p>
        </p:txBody>
      </p:sp>
    </p:spTree>
    <p:extLst>
      <p:ext uri="{BB962C8B-B14F-4D97-AF65-F5344CB8AC3E}">
        <p14:creationId xmlns:p14="http://schemas.microsoft.com/office/powerpoint/2010/main" val="187224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7058" y="260648"/>
            <a:ext cx="892899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rgbClr val="92D050"/>
                </a:solidFill>
              </a:rPr>
              <a:t>4. </a:t>
            </a:r>
            <a:r>
              <a:rPr lang="ru-RU" sz="2800" dirty="0">
                <a:solidFill>
                  <a:srgbClr val="92D050"/>
                </a:solidFill>
              </a:rPr>
              <a:t>Грозовая деятельность, молнии и электростатические </a:t>
            </a:r>
            <a:r>
              <a:rPr lang="ru-RU" sz="2800" dirty="0" smtClean="0">
                <a:solidFill>
                  <a:srgbClr val="92D050"/>
                </a:solidFill>
              </a:rPr>
              <a:t>разряды</a:t>
            </a:r>
          </a:p>
          <a:p>
            <a:pPr algn="ctr"/>
            <a:endParaRPr lang="ru-RU" sz="2800" dirty="0"/>
          </a:p>
          <a:p>
            <a:pPr algn="just"/>
            <a:r>
              <a:rPr lang="ru-RU" sz="2800" dirty="0" smtClean="0"/>
              <a:t>	</a:t>
            </a:r>
            <a:r>
              <a:rPr lang="ru-RU" sz="2800" dirty="0" smtClean="0">
                <a:solidFill>
                  <a:srgbClr val="00B0F0"/>
                </a:solidFill>
              </a:rPr>
              <a:t>Грозы </a:t>
            </a:r>
            <a:r>
              <a:rPr lang="ru-RU" sz="2800" dirty="0">
                <a:solidFill>
                  <a:srgbClr val="00B0F0"/>
                </a:solidFill>
              </a:rPr>
              <a:t>связаны с мощными </a:t>
            </a:r>
            <a:r>
              <a:rPr lang="ru-RU" sz="2800" dirty="0" err="1">
                <a:solidFill>
                  <a:srgbClr val="00B0F0"/>
                </a:solidFill>
              </a:rPr>
              <a:t>кумулонимбусами</a:t>
            </a:r>
            <a:r>
              <a:rPr lang="ru-RU" sz="2800" dirty="0">
                <a:solidFill>
                  <a:srgbClr val="00B0F0"/>
                </a:solidFill>
              </a:rPr>
              <a:t>: сильная турбулентность, град, ливни, молнии.</a:t>
            </a:r>
          </a:p>
          <a:p>
            <a:pPr algn="ctr"/>
            <a:r>
              <a:rPr lang="ru-RU" sz="2800" dirty="0">
                <a:solidFill>
                  <a:srgbClr val="FFFF00"/>
                </a:solidFill>
              </a:rPr>
              <a:t>Риски: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•Прямое </a:t>
            </a:r>
            <a:r>
              <a:rPr lang="ru-RU" sz="2800" dirty="0">
                <a:solidFill>
                  <a:srgbClr val="00B0F0"/>
                </a:solidFill>
              </a:rPr>
              <a:t>попадание молнии (маловероятно, но разрушительно).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•Электромагнитные </a:t>
            </a:r>
            <a:r>
              <a:rPr lang="ru-RU" sz="2800" dirty="0">
                <a:solidFill>
                  <a:srgbClr val="00B0F0"/>
                </a:solidFill>
              </a:rPr>
              <a:t>импульсы (EMP) — индуцированные токи, повреждение электроники, сбой навигации и связи.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•Электростатические </a:t>
            </a:r>
            <a:r>
              <a:rPr lang="ru-RU" sz="2800" dirty="0">
                <a:solidFill>
                  <a:srgbClr val="00B0F0"/>
                </a:solidFill>
              </a:rPr>
              <a:t>разряды — накопление заряда на корпусе, разряд на датчики/антенны.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•Турбулентность </a:t>
            </a:r>
            <a:r>
              <a:rPr lang="ru-RU" sz="2800" dirty="0">
                <a:solidFill>
                  <a:srgbClr val="00B0F0"/>
                </a:solidFill>
              </a:rPr>
              <a:t>и нисходящие потоки (</a:t>
            </a:r>
            <a:r>
              <a:rPr lang="ru-RU" sz="2800" dirty="0" err="1">
                <a:solidFill>
                  <a:srgbClr val="00B0F0"/>
                </a:solidFill>
              </a:rPr>
              <a:t>микрошквалы</a:t>
            </a:r>
            <a:r>
              <a:rPr lang="ru-RU" sz="2800" dirty="0">
                <a:solidFill>
                  <a:srgbClr val="00B0F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39991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83568" y="620688"/>
            <a:ext cx="806489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FFFF00"/>
                </a:solidFill>
              </a:rPr>
              <a:t>Для БПЛА: </a:t>
            </a:r>
            <a:endParaRPr lang="ru-RU" sz="4000" dirty="0" smtClean="0">
              <a:solidFill>
                <a:srgbClr val="FFFF00"/>
              </a:solidFill>
            </a:endParaRPr>
          </a:p>
          <a:p>
            <a:endParaRPr lang="ru-RU" sz="4000" dirty="0" smtClean="0">
              <a:solidFill>
                <a:srgbClr val="FFFF00"/>
              </a:solidFill>
            </a:endParaRPr>
          </a:p>
          <a:p>
            <a:r>
              <a:rPr lang="ru-RU" sz="4000" dirty="0" smtClean="0"/>
              <a:t>	</a:t>
            </a:r>
            <a:r>
              <a:rPr lang="ru-RU" sz="4000" dirty="0" smtClean="0">
                <a:solidFill>
                  <a:srgbClr val="00B0F0"/>
                </a:solidFill>
              </a:rPr>
              <a:t>Полёты </a:t>
            </a:r>
            <a:r>
              <a:rPr lang="ru-RU" sz="4000" dirty="0">
                <a:solidFill>
                  <a:srgbClr val="00B0F0"/>
                </a:solidFill>
              </a:rPr>
              <a:t>в грозу крайне опасны. Рекомендуется полный запрет при приближении грозы (минимум 10–20 км). Защита — экранирование, разрядники, но полностью не решает проблему.</a:t>
            </a:r>
          </a:p>
        </p:txBody>
      </p:sp>
    </p:spTree>
    <p:extLst>
      <p:ext uri="{BB962C8B-B14F-4D97-AF65-F5344CB8AC3E}">
        <p14:creationId xmlns:p14="http://schemas.microsoft.com/office/powerpoint/2010/main" val="237538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17693"/>
            <a:ext cx="8784976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36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Обледенение (</a:t>
            </a:r>
            <a:r>
              <a:rPr lang="ru-RU" sz="36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icing</a:t>
            </a:r>
            <a:r>
              <a:rPr lang="ru-RU" sz="36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 — риски для </a:t>
            </a:r>
            <a:r>
              <a:rPr lang="ru-RU" sz="36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мультикоптеров</a:t>
            </a:r>
            <a:r>
              <a:rPr lang="ru-RU" sz="36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и самолётов с фиксированным </a:t>
            </a:r>
            <a:r>
              <a:rPr lang="ru-RU" sz="36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крылом</a:t>
            </a:r>
          </a:p>
          <a:p>
            <a:pPr algn="ctr"/>
            <a:endParaRPr lang="ru-RU" sz="3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Обледенение </a:t>
            </a:r>
            <a:r>
              <a:rPr lang="ru-RU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возникает в переохлаждённых каплях (туман, облака, морось) при температурах от 0 до -20°C. Лёд нарастает на передних кромках, винтах, датчиках.</a:t>
            </a:r>
          </a:p>
          <a:p>
            <a:pPr algn="just"/>
            <a:r>
              <a:rPr lang="ru-RU" sz="36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Риски для </a:t>
            </a:r>
            <a:r>
              <a:rPr lang="ru-RU" sz="3600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мультикоптеров</a:t>
            </a:r>
            <a:r>
              <a:rPr lang="ru-RU" sz="36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•	Нарушение баланса и аэродинамики винтов → потеря тяги, вибрации, падение.</a:t>
            </a:r>
          </a:p>
          <a:p>
            <a:pPr algn="just"/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•	Обледенение моторов и электроники.</a:t>
            </a:r>
          </a:p>
        </p:txBody>
      </p:sp>
    </p:spTree>
    <p:extLst>
      <p:ext uri="{BB962C8B-B14F-4D97-AF65-F5344CB8AC3E}">
        <p14:creationId xmlns:p14="http://schemas.microsoft.com/office/powerpoint/2010/main" val="1091291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88640"/>
            <a:ext cx="885698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00B0F0"/>
                </a:solidFill>
              </a:rPr>
              <a:t>Риски для </a:t>
            </a:r>
            <a:r>
              <a:rPr lang="ru-RU" sz="2800" dirty="0" err="1">
                <a:solidFill>
                  <a:srgbClr val="00B0F0"/>
                </a:solidFill>
              </a:rPr>
              <a:t>fixed-wing</a:t>
            </a:r>
            <a:r>
              <a:rPr lang="ru-RU" sz="2800" dirty="0" smtClean="0">
                <a:solidFill>
                  <a:srgbClr val="00B0F0"/>
                </a:solidFill>
              </a:rPr>
              <a:t>:</a:t>
            </a:r>
          </a:p>
          <a:p>
            <a:pPr algn="just"/>
            <a:endParaRPr lang="ru-RU" sz="2800" dirty="0">
              <a:solidFill>
                <a:srgbClr val="00B0F0"/>
              </a:solidFill>
            </a:endParaRP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•Изменение </a:t>
            </a:r>
            <a:r>
              <a:rPr lang="ru-RU" sz="2800" dirty="0">
                <a:solidFill>
                  <a:srgbClr val="00B0F0"/>
                </a:solidFill>
              </a:rPr>
              <a:t>профиля крыла → потеря подъёмной силы, сваливание.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•Обледенение </a:t>
            </a:r>
            <a:r>
              <a:rPr lang="ru-RU" sz="2800" dirty="0">
                <a:solidFill>
                  <a:srgbClr val="00B0F0"/>
                </a:solidFill>
              </a:rPr>
              <a:t>ПВД (приёмника воздушного давления) → ложные показания скорости/высоты.</a:t>
            </a: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•Увеличение </a:t>
            </a:r>
            <a:r>
              <a:rPr lang="ru-RU" sz="2800" dirty="0">
                <a:solidFill>
                  <a:srgbClr val="00B0F0"/>
                </a:solidFill>
              </a:rPr>
              <a:t>веса</a:t>
            </a:r>
            <a:r>
              <a:rPr lang="ru-RU" sz="2800" dirty="0" smtClean="0">
                <a:solidFill>
                  <a:srgbClr val="00B0F0"/>
                </a:solidFill>
              </a:rPr>
              <a:t>.</a:t>
            </a:r>
          </a:p>
          <a:p>
            <a:pPr algn="just"/>
            <a:endParaRPr lang="ru-RU" sz="2800" dirty="0">
              <a:solidFill>
                <a:srgbClr val="00B0F0"/>
              </a:solidFill>
            </a:endParaRPr>
          </a:p>
          <a:p>
            <a:pPr algn="just"/>
            <a:endParaRPr lang="ru-RU" sz="2800" dirty="0">
              <a:solidFill>
                <a:srgbClr val="00B0F0"/>
              </a:solidFill>
            </a:endParaRPr>
          </a:p>
          <a:p>
            <a:pPr algn="just"/>
            <a:r>
              <a:rPr lang="ru-RU" sz="2800" dirty="0" smtClean="0">
                <a:solidFill>
                  <a:srgbClr val="00B0F0"/>
                </a:solidFill>
              </a:rPr>
              <a:t>	Особенно </a:t>
            </a:r>
            <a:r>
              <a:rPr lang="ru-RU" sz="2800" dirty="0">
                <a:solidFill>
                  <a:srgbClr val="00B0F0"/>
                </a:solidFill>
              </a:rPr>
              <a:t>опасно в зимних условиях и низкой облачности. </a:t>
            </a:r>
            <a:r>
              <a:rPr lang="ru-RU" sz="2800" dirty="0">
                <a:solidFill>
                  <a:srgbClr val="FFFF00"/>
                </a:solidFill>
              </a:rPr>
              <a:t>Защита: </a:t>
            </a:r>
            <a:r>
              <a:rPr lang="ru-RU" sz="2800" dirty="0" err="1">
                <a:solidFill>
                  <a:srgbClr val="00B0F0"/>
                </a:solidFill>
              </a:rPr>
              <a:t>антиобледенительные</a:t>
            </a:r>
            <a:r>
              <a:rPr lang="ru-RU" sz="2800" dirty="0">
                <a:solidFill>
                  <a:srgbClr val="00B0F0"/>
                </a:solidFill>
              </a:rPr>
              <a:t> системы (</a:t>
            </a:r>
            <a:r>
              <a:rPr lang="ru-RU" sz="2800" dirty="0" err="1">
                <a:solidFill>
                  <a:srgbClr val="00B0F0"/>
                </a:solidFill>
              </a:rPr>
              <a:t>электрообогрев</a:t>
            </a:r>
            <a:r>
              <a:rPr lang="ru-RU" sz="2800" dirty="0">
                <a:solidFill>
                  <a:srgbClr val="00B0F0"/>
                </a:solidFill>
              </a:rPr>
              <a:t>, покрытия), избегание опасных зон, предстартовый прогрев.</a:t>
            </a:r>
          </a:p>
        </p:txBody>
      </p:sp>
    </p:spTree>
    <p:extLst>
      <p:ext uri="{BB962C8B-B14F-4D97-AF65-F5344CB8AC3E}">
        <p14:creationId xmlns:p14="http://schemas.microsoft.com/office/powerpoint/2010/main" val="70238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2879" y="260648"/>
            <a:ext cx="8856984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>
                <a:solidFill>
                  <a:srgbClr val="92D050"/>
                </a:solidFill>
              </a:rPr>
              <a:t>6. </a:t>
            </a:r>
            <a:r>
              <a:rPr lang="ru-RU" sz="4000" dirty="0">
                <a:solidFill>
                  <a:srgbClr val="92D050"/>
                </a:solidFill>
              </a:rPr>
              <a:t>Пыльные бури, дымка, туман и снижение </a:t>
            </a:r>
            <a:r>
              <a:rPr lang="ru-RU" sz="4000" dirty="0" smtClean="0">
                <a:solidFill>
                  <a:srgbClr val="92D050"/>
                </a:solidFill>
              </a:rPr>
              <a:t>видимости</a:t>
            </a:r>
          </a:p>
          <a:p>
            <a:endParaRPr lang="ru-RU" sz="4000" dirty="0"/>
          </a:p>
          <a:p>
            <a:pPr algn="just"/>
            <a:r>
              <a:rPr lang="ru-RU" sz="4000" dirty="0" smtClean="0">
                <a:solidFill>
                  <a:srgbClr val="00B0F0"/>
                </a:solidFill>
              </a:rPr>
              <a:t>•Туман </a:t>
            </a:r>
            <a:r>
              <a:rPr lang="ru-RU" sz="4000" dirty="0">
                <a:solidFill>
                  <a:srgbClr val="00B0F0"/>
                </a:solidFill>
              </a:rPr>
              <a:t>и дымка — взвешенные капли/частицы, сильно снижают видимость (до сотен метров).</a:t>
            </a:r>
          </a:p>
          <a:p>
            <a:pPr algn="just"/>
            <a:r>
              <a:rPr lang="ru-RU" sz="4000" dirty="0" smtClean="0">
                <a:solidFill>
                  <a:srgbClr val="00B0F0"/>
                </a:solidFill>
              </a:rPr>
              <a:t>•Пыльные/песчаные </a:t>
            </a:r>
            <a:r>
              <a:rPr lang="ru-RU" sz="4000" dirty="0">
                <a:solidFill>
                  <a:srgbClr val="00B0F0"/>
                </a:solidFill>
              </a:rPr>
              <a:t>бури — высокая концентрация твёрдых частиц, видимость &lt;1 км, абразивное воздействие.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417221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404664"/>
            <a:ext cx="885698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92D050"/>
                </a:solidFill>
              </a:rPr>
              <a:t>Влияние на БПЛА</a:t>
            </a:r>
            <a:r>
              <a:rPr lang="ru-RU" sz="2800" dirty="0" smtClean="0">
                <a:solidFill>
                  <a:srgbClr val="92D050"/>
                </a:solidFill>
              </a:rPr>
              <a:t>:</a:t>
            </a:r>
          </a:p>
          <a:p>
            <a:pPr algn="ctr"/>
            <a:endParaRPr lang="ru-RU" sz="2800" dirty="0"/>
          </a:p>
          <a:p>
            <a:r>
              <a:rPr lang="ru-RU" sz="2800" dirty="0" smtClean="0"/>
              <a:t>•</a:t>
            </a:r>
            <a:r>
              <a:rPr lang="ru-RU" sz="2800" dirty="0" smtClean="0">
                <a:solidFill>
                  <a:srgbClr val="00B0F0"/>
                </a:solidFill>
              </a:rPr>
              <a:t>Ослепление </a:t>
            </a:r>
            <a:r>
              <a:rPr lang="ru-RU" sz="2800" dirty="0">
                <a:solidFill>
                  <a:srgbClr val="00B0F0"/>
                </a:solidFill>
              </a:rPr>
              <a:t>оптических, </a:t>
            </a:r>
            <a:r>
              <a:rPr lang="ru-RU" sz="2800" dirty="0" err="1">
                <a:solidFill>
                  <a:srgbClr val="00B0F0"/>
                </a:solidFill>
              </a:rPr>
              <a:t>лидарных</a:t>
            </a:r>
            <a:r>
              <a:rPr lang="ru-RU" sz="2800" dirty="0">
                <a:solidFill>
                  <a:srgbClr val="00B0F0"/>
                </a:solidFill>
              </a:rPr>
              <a:t> и камерных датчиков.</a:t>
            </a:r>
          </a:p>
          <a:p>
            <a:r>
              <a:rPr lang="ru-RU" sz="2800" dirty="0" smtClean="0">
                <a:solidFill>
                  <a:srgbClr val="00B0F0"/>
                </a:solidFill>
              </a:rPr>
              <a:t>•Абразивный </a:t>
            </a:r>
            <a:r>
              <a:rPr lang="ru-RU" sz="2800" dirty="0">
                <a:solidFill>
                  <a:srgbClr val="00B0F0"/>
                </a:solidFill>
              </a:rPr>
              <a:t>износ пропеллеров, моторов, фильтров.</a:t>
            </a:r>
          </a:p>
          <a:p>
            <a:r>
              <a:rPr lang="ru-RU" sz="2800" dirty="0" smtClean="0">
                <a:solidFill>
                  <a:srgbClr val="00B0F0"/>
                </a:solidFill>
              </a:rPr>
              <a:t>•Засорение </a:t>
            </a:r>
            <a:r>
              <a:rPr lang="ru-RU" sz="2800" dirty="0">
                <a:solidFill>
                  <a:srgbClr val="00B0F0"/>
                </a:solidFill>
              </a:rPr>
              <a:t>воздухозаборников и охлаждения.</a:t>
            </a:r>
          </a:p>
          <a:p>
            <a:r>
              <a:rPr lang="ru-RU" sz="2800" dirty="0" smtClean="0">
                <a:solidFill>
                  <a:srgbClr val="00B0F0"/>
                </a:solidFill>
              </a:rPr>
              <a:t>•Снижение </a:t>
            </a:r>
            <a:r>
              <a:rPr lang="ru-RU" sz="2800" dirty="0">
                <a:solidFill>
                  <a:srgbClr val="00B0F0"/>
                </a:solidFill>
              </a:rPr>
              <a:t>точности навигации (GNSS может работать, но визуальное позиционирование — нет).</a:t>
            </a:r>
          </a:p>
          <a:p>
            <a:r>
              <a:rPr lang="ru-RU" sz="2800" dirty="0" smtClean="0">
                <a:solidFill>
                  <a:srgbClr val="00B0F0"/>
                </a:solidFill>
              </a:rPr>
              <a:t>•Увеличение </a:t>
            </a:r>
            <a:r>
              <a:rPr lang="ru-RU" sz="2800" dirty="0">
                <a:solidFill>
                  <a:srgbClr val="00B0F0"/>
                </a:solidFill>
              </a:rPr>
              <a:t>риска столкновений</a:t>
            </a:r>
            <a:r>
              <a:rPr lang="ru-RU" sz="2800" dirty="0" smtClean="0">
                <a:solidFill>
                  <a:srgbClr val="00B0F0"/>
                </a:solidFill>
              </a:rPr>
              <a:t>.</a:t>
            </a:r>
          </a:p>
          <a:p>
            <a:endParaRPr lang="ru-RU" sz="2800" dirty="0"/>
          </a:p>
          <a:p>
            <a:r>
              <a:rPr lang="ru-RU" sz="2800" dirty="0">
                <a:solidFill>
                  <a:srgbClr val="FFFF00"/>
                </a:solidFill>
              </a:rPr>
              <a:t>Рекомендации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00B0F0"/>
                </a:solidFill>
              </a:rPr>
              <a:t>использование радаров/акустических систем вместо чисто оптических, ограничение полётов, защита от пыли.</a:t>
            </a:r>
          </a:p>
        </p:txBody>
      </p:sp>
    </p:spTree>
    <p:extLst>
      <p:ext uri="{BB962C8B-B14F-4D97-AF65-F5344CB8AC3E}">
        <p14:creationId xmlns:p14="http://schemas.microsoft.com/office/powerpoint/2010/main" val="176984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87727"/>
            <a:ext cx="8712968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400" b="1" dirty="0">
                <a:solidFill>
                  <a:srgbClr val="FFFF00"/>
                </a:solidFill>
              </a:rPr>
              <a:t>Общий вывод </a:t>
            </a:r>
            <a:r>
              <a:rPr lang="ru-RU" sz="4400" b="1">
                <a:solidFill>
                  <a:srgbClr val="FFFF00"/>
                </a:solidFill>
              </a:rPr>
              <a:t>по </a:t>
            </a:r>
            <a:r>
              <a:rPr lang="ru-RU" sz="4400" b="1" smtClean="0">
                <a:solidFill>
                  <a:srgbClr val="FFFF00"/>
                </a:solidFill>
              </a:rPr>
              <a:t>теме:</a:t>
            </a:r>
            <a:r>
              <a:rPr lang="ru-RU" sz="4400" smtClean="0">
                <a:solidFill>
                  <a:srgbClr val="FFFF00"/>
                </a:solidFill>
              </a:rPr>
              <a:t> </a:t>
            </a:r>
            <a:r>
              <a:rPr lang="ru-RU" sz="4400" dirty="0" smtClean="0">
                <a:solidFill>
                  <a:srgbClr val="FFFF00"/>
                </a:solidFill>
              </a:rPr>
              <a:t>	</a:t>
            </a:r>
            <a:r>
              <a:rPr lang="ru-RU" sz="4400" dirty="0" smtClean="0">
                <a:solidFill>
                  <a:srgbClr val="00B0F0"/>
                </a:solidFill>
              </a:rPr>
              <a:t>Атмосферные </a:t>
            </a:r>
            <a:r>
              <a:rPr lang="ru-RU" sz="4400" dirty="0">
                <a:solidFill>
                  <a:srgbClr val="00B0F0"/>
                </a:solidFill>
              </a:rPr>
              <a:t>явления требуют тщательного </a:t>
            </a:r>
            <a:r>
              <a:rPr lang="ru-RU" sz="4400" dirty="0" err="1">
                <a:solidFill>
                  <a:srgbClr val="00B0F0"/>
                </a:solidFill>
              </a:rPr>
              <a:t>метеомониторинга</a:t>
            </a:r>
            <a:r>
              <a:rPr lang="ru-RU" sz="4400" dirty="0">
                <a:solidFill>
                  <a:srgbClr val="00B0F0"/>
                </a:solidFill>
              </a:rPr>
              <a:t> перед полётом. Лёгкие БПЛА наиболее уязвимы. Ключевые меры — прогнозирование, резервирование систем и специализированные всепогодные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940613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азовая">
  <a:themeElements>
    <a:clrScheme name="Базовая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Базовая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азовая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37</TotalTime>
  <Words>415</Words>
  <Application>Microsoft Office PowerPoint</Application>
  <PresentationFormat>Экран (4:3)</PresentationFormat>
  <Paragraphs>83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Базовая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LaptopLTE</dc:creator>
  <cp:lastModifiedBy>1</cp:lastModifiedBy>
  <cp:revision>5</cp:revision>
  <dcterms:created xsi:type="dcterms:W3CDTF">2026-07-09T13:49:47Z</dcterms:created>
  <dcterms:modified xsi:type="dcterms:W3CDTF">2026-07-09T14:38:04Z</dcterms:modified>
</cp:coreProperties>
</file>