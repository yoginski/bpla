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10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6187" y="0"/>
            <a:ext cx="9144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Тема  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Прогнозирование и </a:t>
            </a:r>
            <a:r>
              <a:rPr lang="ru-RU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метеообеспечение</a:t>
            </a: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полётов </a:t>
            </a: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БПЛА</a:t>
            </a:r>
          </a:p>
          <a:p>
            <a:pPr algn="ctr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Источники метеорологической информации для операторов БПЛА (METAR, TAF, GFS, приложения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/>
            <a:r>
              <a:rPr lang="ru-RU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Основные источники: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METAR — актуальная сводка погоды на аэродроме (текущие наблюдения: ветер, видимость, облачность, осадки, температура).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TAF — прогноз на 24–30 часов для аэродрома (ожидаемые изменения, включая TEMPO и PROB).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GFS (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Global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Forecast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) и другие модели (ECMWF, ICON) — глобальные численные прогнозы (ветер, температура, осадки на сетке).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SIGMET, AIRMET — предупреждения об опасных явлениях (грозы, турбулентность, обледенение).</a:t>
            </a:r>
          </a:p>
        </p:txBody>
      </p:sp>
    </p:spTree>
    <p:extLst>
      <p:ext uri="{BB962C8B-B14F-4D97-AF65-F5344CB8AC3E}">
        <p14:creationId xmlns:p14="http://schemas.microsoft.com/office/powerpoint/2010/main" val="232577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55070"/>
            <a:ext cx="903649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Приложения и сервисы:</a:t>
            </a:r>
          </a:p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Aviation Weather,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Avia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Weather, UAV Forecast, Windy, Aviation Weather (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 декодированием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METAR/TAF).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Кыргызгидромет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NOAA,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сайты вроде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aviationweather.gov, checkwx.com.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Локальные автоматические станции и данные с ближайших аэропортов.</a:t>
            </a:r>
          </a:p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БПЛА важно сочетать авиационные (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METAR/TAF)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 общедоступные источники из-за операций на малых высотах.</a:t>
            </a:r>
          </a:p>
        </p:txBody>
      </p:sp>
    </p:spTree>
    <p:extLst>
      <p:ext uri="{BB962C8B-B14F-4D97-AF65-F5344CB8AC3E}">
        <p14:creationId xmlns:p14="http://schemas.microsoft.com/office/powerpoint/2010/main" val="2085640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88640"/>
            <a:ext cx="885698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Прогнозирование погоды для малой авиации и БПЛА</a:t>
            </a:r>
          </a:p>
          <a:p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	Прогнозирование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для БПЛА учитывает специфику малых высот (пограничный слой) и городскую среду.</a:t>
            </a:r>
          </a:p>
          <a:p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Методы:</a:t>
            </a:r>
          </a:p>
          <a:p>
            <a:pPr algn="ctr"/>
            <a:endParaRPr lang="ru-RU" sz="2800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Численные модели (GFS, WRF) с высоким разрешением.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	Локальные модели с учётом рельефа и застройки.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Ансамблевые прогнозы для оценки неопределённости.</a:t>
            </a:r>
          </a:p>
        </p:txBody>
      </p:sp>
    </p:spTree>
    <p:extLst>
      <p:ext uri="{BB962C8B-B14F-4D97-AF65-F5344CB8AC3E}">
        <p14:creationId xmlns:p14="http://schemas.microsoft.com/office/powerpoint/2010/main" val="202732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89679"/>
            <a:ext cx="864096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Ключевые параметры для БПЛА: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Ветер на 0–300 м (скорость, порывы, направление).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Видимость, нижняя граница облаков, осадки.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Турбулентность, температура, влажность (риск обледенения).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Грозовая активность и сдвиги ветра.</a:t>
            </a:r>
          </a:p>
          <a:p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Операторы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используют комбинацию глобальных моделей и локальных наблюдений. Приложения с визуализацией (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Windy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, UAV-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) упрощают интерпретацию.</a:t>
            </a:r>
          </a:p>
        </p:txBody>
      </p:sp>
    </p:spTree>
    <p:extLst>
      <p:ext uri="{BB962C8B-B14F-4D97-AF65-F5344CB8AC3E}">
        <p14:creationId xmlns:p14="http://schemas.microsoft.com/office/powerpoint/2010/main" val="346067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88640"/>
            <a:ext cx="889248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Оценка рисков перед полётом. </a:t>
            </a:r>
            <a:r>
              <a:rPr lang="ru-RU" sz="3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Метеоминимумы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для различных типов </a:t>
            </a:r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БПЛА</a:t>
            </a:r>
            <a:endParaRPr lang="ru-RU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Оценка рисков (</a:t>
            </a:r>
            <a:r>
              <a:rPr lang="ru-RU" sz="32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Risk</a:t>
            </a:r>
            <a:r>
              <a:rPr lang="ru-RU" sz="3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Assessment</a:t>
            </a:r>
            <a:r>
              <a:rPr lang="ru-RU" sz="3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Сбор данных из всех доступных источников.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Проверка соответствия метеоусловий возможностям БПЛА (ветер, осадки, видимость, температура).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Анализ маршрута: влияние рельефа, застройки, переходов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indoor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outdoor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Учёт запасов (резерв по времени, высоте, энергии).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Документирование решения (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Go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No-Go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checklist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1083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51180"/>
            <a:ext cx="878497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Метеоминимумы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(примерные, зависят от модели и регламента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algn="ctr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Мультикоптеры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(лёгкие): ветер до 8–12 м/с, видимость &gt;500–1000 м, отсутствие осадков/грозы, температура &gt;0°C (или с обогревом).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Fixed-wing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 более строгие требования к ветру при взлёте/посадке, обледенению.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•	Запрет/ограничение: сильный ветер, осадки, низкая облачность, гроза.</a:t>
            </a: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	Рекомендуется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использовать матрицы рисков и руководства по оценке эксплуатационных рисков. Полёт только при приемлемом уровне риска.</a:t>
            </a:r>
          </a:p>
        </p:txBody>
      </p:sp>
    </p:spTree>
    <p:extLst>
      <p:ext uri="{BB962C8B-B14F-4D97-AF65-F5344CB8AC3E}">
        <p14:creationId xmlns:p14="http://schemas.microsoft.com/office/powerpoint/2010/main" val="222070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49390" y="0"/>
            <a:ext cx="878497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Автоматические метеостанции и бортовые </a:t>
            </a:r>
            <a:r>
              <a:rPr lang="ru-RU" sz="3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метеодатчики</a:t>
            </a:r>
            <a:endParaRPr lang="ru-RU" sz="3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Автоматические метеостанции (AWS</a:t>
            </a:r>
            <a:r>
              <a:rPr lang="ru-RU" sz="32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Измеряют ветер, температуру, влажность, давление, осадки, видимость, облачность в реальном времени.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Устанавливаются на аэродромах, площадках запуска, в зоне операций.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Интеграция с приложениями и системами управления полётами.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Преимущества: высокая частота обновления, надёжность ("установи и забудь").</a:t>
            </a:r>
          </a:p>
        </p:txBody>
      </p:sp>
    </p:spTree>
    <p:extLst>
      <p:ext uri="{BB962C8B-B14F-4D97-AF65-F5344CB8AC3E}">
        <p14:creationId xmlns:p14="http://schemas.microsoft.com/office/powerpoint/2010/main" val="6705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12778"/>
            <a:ext cx="871296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Бортовые </a:t>
            </a:r>
            <a:r>
              <a:rPr lang="ru-RU" sz="3200" dirty="0" err="1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метеодатчики</a:t>
            </a:r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Температура, влажность, давление (барометр).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Анемометры или датчики воздушной скорости.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Датчики осадков, обледенения, турбулентности.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•	Интеграция с автопилотом для адаптивного поведения (изменение маршрута, возврат).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2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Применение</a:t>
            </a:r>
            <a:r>
              <a:rPr lang="ru-RU" sz="32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Реальное время мониторинг, корректировка миссии, повышение безопасности. Особенно полезны для длительных или повторяющихся полётов (сельхоз, мониторинг).</a:t>
            </a:r>
          </a:p>
        </p:txBody>
      </p:sp>
    </p:spTree>
    <p:extLst>
      <p:ext uri="{BB962C8B-B14F-4D97-AF65-F5344CB8AC3E}">
        <p14:creationId xmlns:p14="http://schemas.microsoft.com/office/powerpoint/2010/main" val="416015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0546" y="140106"/>
            <a:ext cx="878497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Общий вывод по </a:t>
            </a:r>
            <a:r>
              <a:rPr lang="ru-RU" sz="36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теме: </a:t>
            </a:r>
          </a:p>
          <a:p>
            <a:pPr algn="ctr"/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Эффективное </a:t>
            </a:r>
            <a:r>
              <a:rPr lang="ru-RU" sz="3600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метеообеспечение</a:t>
            </a:r>
            <a:r>
              <a:rPr lang="ru-RU" sz="36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— основа безопасной эксплуатации БПЛА. Комбинация наземных источников, моделей прогнозирования, локальных станций и бортовых датчиков позволяет минимизировать риски и повысить надёжность миссий. Операторы должны регулярно обучаться интерпретации данных и использовать стандартизированные </a:t>
            </a:r>
            <a:r>
              <a:rPr lang="ru-RU" sz="3600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checklists</a:t>
            </a:r>
            <a:r>
              <a:rPr lang="ru-RU" sz="36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83767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46</TotalTime>
  <Words>101</Words>
  <Application>Microsoft Office PowerPoint</Application>
  <PresentationFormat>Экран (4:3)</PresentationFormat>
  <Paragraphs>61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Техническая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LaptopLTE</dc:creator>
  <cp:lastModifiedBy>1</cp:lastModifiedBy>
  <cp:revision>5</cp:revision>
  <dcterms:created xsi:type="dcterms:W3CDTF">2026-07-13T11:13:09Z</dcterms:created>
  <dcterms:modified xsi:type="dcterms:W3CDTF">2026-07-13T12:10:12Z</dcterms:modified>
</cp:coreProperties>
</file>